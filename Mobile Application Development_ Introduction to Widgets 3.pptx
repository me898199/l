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57" r:id="rId3"/>
    <p:sldId id="258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</p:sldIdLst>
  <p:sldSz cx="9144000" cy="5143500" type="screen16x9"/>
  <p:notesSz cx="6858000" cy="9144000"/>
  <p:embeddedFontLst>
    <p:embeddedFont>
      <p:font typeface="PT Sans Narrow" charset="0"/>
      <p:regular r:id="rId48"/>
      <p:bold r:id="rId49"/>
    </p:embeddedFont>
    <p:embeddedFont>
      <p:font typeface="Open Sans" charset="0"/>
      <p:regular r:id="rId50"/>
      <p:bold r:id="rId51"/>
      <p:italic r:id="rId52"/>
      <p:boldItalic r:id="rId53"/>
    </p:embeddedFont>
    <p:embeddedFont>
      <p:font typeface="Roboto Mono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8" d="100"/>
          <a:sy n="108" d="100"/>
        </p:scale>
        <p:origin x="-56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933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0a52b9167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0a52b9167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0a52b9167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0a52b9167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0fba2e39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0fba2e39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0fba2e39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20fba2e39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0fba2e39e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20fba2e39e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0fba2e39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0fba2e39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0fba2e39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20fba2e39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0fba2e39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20fba2e39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0fba2e39e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20fba2e39e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20fba2e39e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20fba2e39e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0fba2e39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20fba2e39e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20fba2e39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20fba2e39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20fba2e39e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20fba2e39e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20fba2e39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20fba2e39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0fba2e39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0fba2e39e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20fba2e39e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20fba2e39e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20fba2e39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20fba2e39e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20fba2e39e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20fba2e39e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20fba2e39e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20fba2e39e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20fba2e39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20fba2e39e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20fba2e39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20fba2e39e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20fba2e39e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20fba2e39e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20fba2e39e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20fba2e39e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20fba2e39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20fba2e39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20fba2e39e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20fba2e39e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20fba2e39e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20fba2e39e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20fba2e39e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20fba2e39e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0fba2e39e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0fba2e39e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20fba2e39e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20fba2e39e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20fba2e39e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20fba2e39e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20fba2e39e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20fba2e39e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20fba2e39e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20fba2e39e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20fba2e39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20fba2e39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20fba2e39e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20fba2e39e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20fba2e39e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20fba2e39e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20fba2e39e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20fba2e39e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20fba2e39e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20fba2e39e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20fba2e39e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20fba2e39e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20fba2e39e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20fba2e39e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0fba2e39e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20fba2e39e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20fba2e39e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20fba2e39e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20fba2e39e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20fba2e39e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20fba2e39e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20fba2e39e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20fba2e39e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20fba2e39e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reference/flutter-cl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Widgets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</a:t>
            </a:r>
            <a:r>
              <a:rPr lang="en" b="1" dirty="0">
                <a:latin typeface="Courier New"/>
                <a:ea typeface="Courier New"/>
                <a:cs typeface="Courier New"/>
                <a:sym typeface="Courier New"/>
              </a:rPr>
              <a:t>flutter-cli</a:t>
            </a:r>
            <a:r>
              <a:rPr lang="en" dirty="0"/>
              <a:t> commands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 smtClean="0"/>
              <a:t>Widgets </a:t>
            </a:r>
            <a:r>
              <a:rPr lang="en" dirty="0"/>
              <a:t>for </a:t>
            </a:r>
            <a:r>
              <a:rPr lang="en" b="1" dirty="0"/>
              <a:t>Structure</a:t>
            </a:r>
            <a:r>
              <a:rPr lang="en" dirty="0"/>
              <a:t> and </a:t>
            </a:r>
            <a:r>
              <a:rPr lang="en" b="1" dirty="0"/>
              <a:t>Navigation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Widgets for </a:t>
            </a:r>
            <a:r>
              <a:rPr lang="en" b="1" dirty="0"/>
              <a:t>Displaying Information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Widgets for </a:t>
            </a:r>
            <a:r>
              <a:rPr lang="en" b="1" dirty="0"/>
              <a:t>Positioning Widgets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Composing</a:t>
            </a:r>
            <a:r>
              <a:rPr lang="en" dirty="0"/>
              <a:t> Widgets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Handling User </a:t>
            </a:r>
            <a:r>
              <a:rPr lang="en" b="1" dirty="0"/>
              <a:t>Interaction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flutter-cli </a:t>
            </a:r>
            <a:r>
              <a:rPr lang="en"/>
              <a:t>Commands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flutter create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my_app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flutter test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flutter run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lib/main.dart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flutter pub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get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flutter pub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upgrade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https://docs.flutter.dev/reference/flutter-cli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/>
              <a:t> Widget</a:t>
            </a:r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74800" cy="3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/>
              <a:t> is one of the most commonly-used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Material</a:t>
            </a:r>
            <a:r>
              <a:rPr lang="en"/>
              <a:t> widgets in Flutter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Implements the basic material design visual layout structure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for structuring and navigation purposes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It’s composed of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AppBar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BottomSheet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Drawer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FloatingActionButton</a:t>
            </a:r>
            <a:r>
              <a:rPr lang="en"/>
              <a:t>, and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SnackBar</a:t>
            </a:r>
            <a:endParaRPr/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0" y="0"/>
            <a:ext cx="2857500" cy="5086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103" y="0"/>
            <a:ext cx="68848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endParaRPr/>
          </a:p>
        </p:txBody>
      </p:sp>
      <p:sp>
        <p:nvSpPr>
          <p:cNvPr id="208" name="Google Shape;208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 Navigation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material widget that's displayed at the bottom of an app for selecting among a small number of views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bottom navigation bar is usually used in conjunction with a </a:t>
            </a:r>
            <a:r>
              <a:rPr lang="en" b="1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 Navigation</a:t>
            </a:r>
            <a:endParaRPr/>
          </a:p>
        </p:txBody>
      </p:sp>
      <p:sp>
        <p:nvSpPr>
          <p:cNvPr id="220" name="Google Shape;220;p36"/>
          <p:cNvSpPr txBox="1">
            <a:spLocks noGrp="1"/>
          </p:cNvSpPr>
          <p:nvPr>
            <p:ph type="body" idx="1"/>
          </p:nvPr>
        </p:nvSpPr>
        <p:spPr>
          <a:xfrm>
            <a:off x="311700" y="1107325"/>
            <a:ext cx="6170700" cy="3861900"/>
          </a:xfrm>
          <a:prstGeom prst="rect">
            <a:avLst/>
          </a:prstGeom>
          <a:solidFill>
            <a:srgbClr val="282A3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// …</a:t>
            </a:r>
            <a:endParaRPr sz="140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4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…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4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currentIndex</a:t>
            </a:r>
            <a:r>
              <a:rPr lang="en" sz="10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_selectedIndex</a:t>
            </a:r>
            <a:r>
              <a:rPr lang="en" sz="10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4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BottomNavigationBarItem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BottomNavigationBarItem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4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.card_giftcard),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4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" sz="14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'Card'</a:t>
            </a: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  ),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…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],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),}</a:t>
            </a:r>
            <a:endParaRPr sz="14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1" name="Google Shape;2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860" y="0"/>
            <a:ext cx="24361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between items</a:t>
            </a:r>
            <a:endParaRPr/>
          </a:p>
        </p:txBody>
      </p:sp>
      <p:sp>
        <p:nvSpPr>
          <p:cNvPr id="227" name="Google Shape;227;p3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change the content of the </a:t>
            </a:r>
            <a:r>
              <a:rPr lang="en" b="1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/>
              <a:t> body when the bottom navigation tabs are tapped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elements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228" name="Google Shape;228;p37"/>
          <p:cNvSpPr txBox="1"/>
          <p:nvPr/>
        </p:nvSpPr>
        <p:spPr>
          <a:xfrm>
            <a:off x="2771775" y="2654350"/>
            <a:ext cx="59784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pages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.red),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.blue),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.amber)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];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between items</a:t>
            </a:r>
            <a:endParaRPr/>
          </a:p>
        </p:txBody>
      </p:sp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used the </a:t>
            </a:r>
            <a:r>
              <a:rPr lang="en" b="1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currentIndex</a:t>
            </a:r>
            <a:r>
              <a:rPr lang="en"/>
              <a:t>  property value to select a widget from the widget array, we can then assign the selected widget to the body of the Scaffold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235" name="Google Shape;235;p38"/>
          <p:cNvSpPr txBox="1"/>
          <p:nvPr/>
        </p:nvSpPr>
        <p:spPr>
          <a:xfrm>
            <a:off x="1430825" y="2405075"/>
            <a:ext cx="59784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pages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Widget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.red),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.blue),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.amber)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];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between items</a:t>
            </a:r>
            <a:endParaRPr/>
          </a:p>
        </p:txBody>
      </p:sp>
      <p:sp>
        <p:nvSpPr>
          <p:cNvPr id="241" name="Google Shape;241;p39"/>
          <p:cNvSpPr txBox="1">
            <a:spLocks noGrp="1"/>
          </p:cNvSpPr>
          <p:nvPr>
            <p:ph type="body" idx="1"/>
          </p:nvPr>
        </p:nvSpPr>
        <p:spPr>
          <a:xfrm>
            <a:off x="1128200" y="1152425"/>
            <a:ext cx="6541800" cy="4026900"/>
          </a:xfrm>
          <a:prstGeom prst="rect">
            <a:avLst/>
          </a:prstGeom>
          <a:solidFill>
            <a:srgbClr val="282A3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Scaffold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pages[_selectedIndex],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currentIndex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_selectedIndex,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onTap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_onItemTapped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BottomNavigationBarItem</a:t>
            </a:r>
            <a:r>
              <a:rPr lang="en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],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),</a:t>
            </a:r>
            <a:endParaRPr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between items</a:t>
            </a:r>
            <a:endParaRPr/>
          </a:p>
        </p:txBody>
      </p:sp>
      <p:sp>
        <p:nvSpPr>
          <p:cNvPr id="247" name="Google Shape;247;p40"/>
          <p:cNvSpPr txBox="1">
            <a:spLocks noGrp="1"/>
          </p:cNvSpPr>
          <p:nvPr>
            <p:ph type="body" idx="1"/>
          </p:nvPr>
        </p:nvSpPr>
        <p:spPr>
          <a:xfrm>
            <a:off x="3705050" y="1019500"/>
            <a:ext cx="5302800" cy="3904200"/>
          </a:xfrm>
          <a:prstGeom prst="rect">
            <a:avLst/>
          </a:prstGeom>
          <a:solidFill>
            <a:srgbClr val="282A3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_HomeState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6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_selectedIndex </a:t>
            </a:r>
            <a:r>
              <a:rPr lang="en" sz="16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_onItemTapped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6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setState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(() {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 _selectedIndex </a:t>
            </a:r>
            <a:r>
              <a:rPr lang="en" sz="16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});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sz="160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8BE9FD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p40"/>
          <p:cNvSpPr txBox="1"/>
          <p:nvPr/>
        </p:nvSpPr>
        <p:spPr>
          <a:xfrm>
            <a:off x="448975" y="1303900"/>
            <a:ext cx="3118800" cy="1293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" sz="18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_selectedIndex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property and the </a:t>
            </a:r>
            <a:r>
              <a:rPr lang="en" sz="1800" b="1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_onItemTapped()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method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10" y="0"/>
            <a:ext cx="243613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935" y="0"/>
            <a:ext cx="243613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7760" y="0"/>
            <a:ext cx="24361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Widgets</a:t>
            </a:r>
            <a:endParaRPr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widgets handle what the user sees on screen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of display widgets include:</a:t>
            </a:r>
            <a:endParaRPr/>
          </a:p>
          <a:p>
            <a:pPr marL="0" marR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Button, Icon</a:t>
            </a:r>
            <a:endParaRPr b="1">
              <a:solidFill>
                <a:srgbClr val="0B539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"/>
              <a:t> Widget</a:t>
            </a: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70" name="Google Shape;270;p43"/>
          <p:cNvSpPr txBox="1"/>
          <p:nvPr/>
        </p:nvSpPr>
        <p:spPr>
          <a:xfrm>
            <a:off x="311700" y="1266325"/>
            <a:ext cx="7967400" cy="23418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'Hello, How are you?'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textAlign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TextAlign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.center,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overflow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TextOverflow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.ellipsis,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TextStyle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fontWeight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FontWeight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.bold),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/>
              <a:t> Widget</a:t>
            </a:r>
            <a:endParaRPr/>
          </a:p>
        </p:txBody>
      </p:sp>
      <p:sp>
        <p:nvSpPr>
          <p:cNvPr id="276" name="Google Shape;276;p4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77" name="Google Shape;277;p44"/>
          <p:cNvSpPr txBox="1"/>
          <p:nvPr/>
        </p:nvSpPr>
        <p:spPr>
          <a:xfrm>
            <a:off x="249850" y="1266325"/>
            <a:ext cx="34530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.favorite,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.red,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24.0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8" name="Google Shape;2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00" y="3500225"/>
            <a:ext cx="2946700" cy="14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4"/>
          <p:cNvSpPr txBox="1"/>
          <p:nvPr/>
        </p:nvSpPr>
        <p:spPr>
          <a:xfrm>
            <a:off x="4572000" y="287100"/>
            <a:ext cx="34530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.audiotrack,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.green,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30.0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44"/>
          <p:cNvSpPr txBox="1"/>
          <p:nvPr/>
        </p:nvSpPr>
        <p:spPr>
          <a:xfrm>
            <a:off x="4909925" y="2892725"/>
            <a:ext cx="3453000" cy="1965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Icons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.beach_access,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.blue,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36.0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Layout/Positioning widgets</a:t>
            </a:r>
            <a:endParaRPr/>
          </a:p>
        </p:txBody>
      </p:sp>
      <p:sp>
        <p:nvSpPr>
          <p:cNvPr id="286" name="Google Shape;286;p4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widgets help with the </a:t>
            </a:r>
            <a:r>
              <a:rPr lang="en" b="1"/>
              <a:t>arrangement of widgets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of layout widgets include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SizedBox</a:t>
            </a:r>
            <a:r>
              <a:rPr lang="en"/>
              <a:t>, </a:t>
            </a:r>
            <a:r>
              <a:rPr lang="en" b="1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Row, Card, GridView, ListView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/>
              <a:t> Widget</a:t>
            </a:r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/>
              <a:t> widget lets you create a rectangular visual element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container can be decorated with a </a:t>
            </a:r>
            <a:r>
              <a:rPr lang="en" b="1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BoxDecoration</a:t>
            </a:r>
            <a:r>
              <a:rPr lang="en"/>
              <a:t>, such as a </a:t>
            </a:r>
            <a:r>
              <a:rPr lang="en" b="1"/>
              <a:t>background</a:t>
            </a:r>
            <a:r>
              <a:rPr lang="en"/>
              <a:t>, a </a:t>
            </a:r>
            <a:r>
              <a:rPr lang="en" b="1"/>
              <a:t>border</a:t>
            </a:r>
            <a:r>
              <a:rPr lang="en"/>
              <a:t>, or a </a:t>
            </a:r>
            <a:r>
              <a:rPr lang="en" b="1"/>
              <a:t>shadow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b="1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/>
              <a:t> can also have </a:t>
            </a:r>
            <a:r>
              <a:rPr lang="en" b="1"/>
              <a:t>margins</a:t>
            </a:r>
            <a:r>
              <a:rPr lang="en"/>
              <a:t>, </a:t>
            </a:r>
            <a:r>
              <a:rPr lang="en" b="1"/>
              <a:t>padding</a:t>
            </a:r>
            <a:r>
              <a:rPr lang="en"/>
              <a:t>, and </a:t>
            </a:r>
            <a:r>
              <a:rPr lang="en" b="1"/>
              <a:t>constraints</a:t>
            </a:r>
            <a:r>
              <a:rPr lang="en"/>
              <a:t> applied to its size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</a:t>
            </a:r>
            <a:r>
              <a:rPr lang="en" b="1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/>
              <a:t> can be transformed in three dimensional space using a matrix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/>
              <a:t> Widget</a:t>
            </a:r>
            <a:endParaRPr/>
          </a:p>
        </p:txBody>
      </p:sp>
      <p:sp>
        <p:nvSpPr>
          <p:cNvPr id="298" name="Google Shape;298;p4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9" name="Google Shape;29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050" y="2298500"/>
            <a:ext cx="2381250" cy="23812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00" name="Google Shape;300;p47"/>
          <p:cNvSpPr txBox="1"/>
          <p:nvPr/>
        </p:nvSpPr>
        <p:spPr>
          <a:xfrm>
            <a:off x="370075" y="1355600"/>
            <a:ext cx="5576400" cy="3093900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child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EdgeInsets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80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10.0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BE9FD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.amber[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600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48.0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800" i="1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80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48.0</a:t>
            </a: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),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en"/>
              <a:t> and 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 Widgets</a:t>
            </a:r>
            <a:endParaRPr/>
          </a:p>
        </p:txBody>
      </p:sp>
      <p:sp>
        <p:nvSpPr>
          <p:cNvPr id="306" name="Google Shape;306;p4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</a:t>
            </a:r>
            <a:r>
              <a:rPr lang="en" b="1"/>
              <a:t>flex</a:t>
            </a:r>
            <a:r>
              <a:rPr lang="en"/>
              <a:t> widgets let you create flexible layouts in both the horizontal (</a:t>
            </a: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"/>
              <a:t>) and vertical (</a:t>
            </a:r>
            <a:r>
              <a:rPr lang="en" b="1"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"/>
              <a:t>) directions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design of these objects is based on the web’s flexbox layout model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en"/>
              <a:t> and 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138" y="1152423"/>
            <a:ext cx="7541726" cy="382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en"/>
              <a:t> and </a:t>
            </a: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5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20" name="Google Shape;32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3" y="926950"/>
            <a:ext cx="875347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5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 control how a row or column aligns its children using the </a:t>
            </a:r>
            <a:r>
              <a:rPr lang="en"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</a:t>
            </a:r>
            <a:r>
              <a:rPr lang="en"/>
              <a:t> and </a:t>
            </a:r>
            <a:r>
              <a:rPr lang="en"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</a:t>
            </a:r>
            <a:r>
              <a:rPr lang="en"/>
              <a:t> properties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5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a </a:t>
            </a:r>
            <a:r>
              <a:rPr lang="en" b="1"/>
              <a:t>row</a:t>
            </a:r>
            <a:r>
              <a:rPr lang="en"/>
              <a:t>, the </a:t>
            </a:r>
            <a:r>
              <a:rPr lang="en" b="1"/>
              <a:t>main axis runs horizontally</a:t>
            </a:r>
            <a:r>
              <a:rPr lang="en"/>
              <a:t> and the</a:t>
            </a:r>
            <a:r>
              <a:rPr lang="en" b="1"/>
              <a:t> cross axis runs vertically</a:t>
            </a:r>
            <a:endParaRPr b="1"/>
          </a:p>
        </p:txBody>
      </p:sp>
      <p:pic>
        <p:nvPicPr>
          <p:cNvPr id="333" name="Google Shape;3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625" y="2148675"/>
            <a:ext cx="4370750" cy="2488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5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85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a </a:t>
            </a:r>
            <a:r>
              <a:rPr lang="en" b="1"/>
              <a:t>column</a:t>
            </a:r>
            <a:r>
              <a:rPr lang="en"/>
              <a:t>, the </a:t>
            </a:r>
            <a:r>
              <a:rPr lang="en" b="1"/>
              <a:t>main axis runs vertically</a:t>
            </a:r>
            <a:r>
              <a:rPr lang="en"/>
              <a:t> and the </a:t>
            </a:r>
            <a:r>
              <a:rPr lang="en" b="1"/>
              <a:t>cross axis runs horizontally</a:t>
            </a:r>
            <a:endParaRPr b="1"/>
          </a:p>
        </p:txBody>
      </p:sp>
      <p:pic>
        <p:nvPicPr>
          <p:cNvPr id="340" name="Google Shape;34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705" y="507825"/>
            <a:ext cx="1960878" cy="4241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5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MainAxisAlignment</a:t>
            </a:r>
            <a:r>
              <a:rPr lang="en"/>
              <a:t> and </a:t>
            </a:r>
            <a:r>
              <a:rPr lang="en" b="1">
                <a:solidFill>
                  <a:srgbClr val="1FBAAC"/>
                </a:solidFill>
              </a:rPr>
              <a:t>CrossAxisAlignment</a:t>
            </a:r>
            <a:r>
              <a:rPr lang="en"/>
              <a:t> classes offer a variety of constants for controlling alignment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mainAxisAlignment: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MainAxisAlignment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.spaceEvenly,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children: [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'images/pic1.jpg'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'images/pic2.jpg'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'images/pic3.jpg'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],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/>
          </a:p>
        </p:txBody>
      </p:sp>
      <p:pic>
        <p:nvPicPr>
          <p:cNvPr id="347" name="Google Shape;34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00" y="4058375"/>
            <a:ext cx="2857500" cy="762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widgets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5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MainAxisAlignment</a:t>
            </a:r>
            <a:r>
              <a:rPr lang="en"/>
              <a:t> and </a:t>
            </a:r>
            <a:r>
              <a:rPr lang="en"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CrossAxisAlignment</a:t>
            </a:r>
            <a:r>
              <a:rPr lang="en"/>
              <a:t> classes offer a variety of constants for controlling alignment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mainAxisAlignment: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MainAxisAlignment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.spaceEvenly,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children: [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'images/pic1.jpg'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'images/pic2.jpg'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'images/pic3.jpg'</a:t>
            </a: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],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/>
          </a:p>
        </p:txBody>
      </p:sp>
      <p:pic>
        <p:nvPicPr>
          <p:cNvPr id="354" name="Google Shape;35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700" y="2247825"/>
            <a:ext cx="762000" cy="2590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/>
              <a:t> to lay widgets out as a </a:t>
            </a:r>
            <a:r>
              <a:rPr lang="en" b="1"/>
              <a:t>two-dimensional list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/>
              <a:t> provides two prefabricated lists, or you can build your own custom grid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a </a:t>
            </a:r>
            <a:r>
              <a:rPr lang="en"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/>
              <a:t> detects that its contents are too long to fit the render box, it automatically scrolls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7" name="Google Shape;36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975" y="1224475"/>
            <a:ext cx="2319400" cy="36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275" y="1224475"/>
            <a:ext cx="2319400" cy="3687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GridView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_buildGrid() =&gt;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GridView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.extent(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maxCrossAxisExtent: </a:t>
            </a:r>
            <a:r>
              <a:rPr lang="en" sz="17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150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padding: </a:t>
            </a:r>
            <a:r>
              <a:rPr lang="en" sz="17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EdgeInsets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.all(</a:t>
            </a:r>
            <a:r>
              <a:rPr lang="en" sz="17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mainAxisSpacing: </a:t>
            </a:r>
            <a:r>
              <a:rPr lang="en" sz="17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crossAxisSpacing: </a:t>
            </a:r>
            <a:r>
              <a:rPr lang="en" sz="17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children: _buildGridTileList(</a:t>
            </a:r>
            <a:r>
              <a:rPr lang="en" sz="17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&gt; _buildGridTileList(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count) =&gt;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.generate(</a:t>
            </a:r>
            <a:endParaRPr sz="17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count, (i) =&gt;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(child: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Image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.asset(</a:t>
            </a:r>
            <a:r>
              <a:rPr lang="en" sz="17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'images/pic$i.jpg'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)));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ListView</a:t>
            </a:r>
            <a:r>
              <a:rPr lang="en"/>
              <a:t> 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specialized </a:t>
            </a:r>
            <a:r>
              <a:rPr lang="en" b="1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 for organizing a list of boxes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be laid out </a:t>
            </a:r>
            <a:r>
              <a:rPr lang="en" b="1"/>
              <a:t>horizontally</a:t>
            </a:r>
            <a:r>
              <a:rPr lang="en"/>
              <a:t> or </a:t>
            </a:r>
            <a:r>
              <a:rPr lang="en" b="1"/>
              <a:t>vertically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Detects when its content won’t fit and provides </a:t>
            </a:r>
            <a:r>
              <a:rPr lang="en" b="1"/>
              <a:t>scrolling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Less configurable than </a:t>
            </a:r>
            <a:r>
              <a:rPr lang="en" b="1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en"/>
              <a:t>, but easier to use and supports scrolling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ListView</a:t>
            </a:r>
            <a:r>
              <a:rPr lang="en"/>
              <a:t> 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6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7" name="Google Shape;38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510" y="1220198"/>
            <a:ext cx="2321415" cy="36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700" y="1220200"/>
            <a:ext cx="2321425" cy="371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ListView</a:t>
            </a:r>
            <a:r>
              <a:rPr lang="en"/>
              <a:t> 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6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_buildList() =&gt;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ListView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children: [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_tile(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'CineArts at the Empire'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'85 W Portal Ave'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Icons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.theaters),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_tile(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'The Castro Theater'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'429 Castro St'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Icons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.theaters),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...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Divider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_tile(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'K\'s Kitchen'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'757 Monterey Blvd'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Icons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.restaurant),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_tile(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'Emmy\'s Restaurant'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'1923 Ocean Ave'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Icons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.restaurant),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],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);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ListView</a:t>
            </a:r>
            <a:r>
              <a:rPr lang="en"/>
              <a:t> Widget</a:t>
            </a:r>
            <a:endParaRPr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FBAA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6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ListTile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_tile(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title,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subtitle,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IconData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icon) =&gt;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ListTile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title: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(title,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style: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TextStyle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fontWeight: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FontWeight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.w500,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fontSize: </a:t>
            </a:r>
            <a:r>
              <a:rPr lang="en" sz="15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)),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subtitle: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(subtitle),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leading: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icon,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color: </a:t>
            </a:r>
            <a:r>
              <a:rPr lang="en" sz="15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Colors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.blue[</a:t>
            </a:r>
            <a:r>
              <a:rPr lang="en" sz="15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),</a:t>
            </a:r>
            <a:endParaRPr sz="15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);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"/>
              <a:t> Widget</a:t>
            </a:r>
            <a:endParaRPr>
              <a:solidFill>
                <a:srgbClr val="222222"/>
              </a:solidFill>
            </a:endParaRPr>
          </a:p>
        </p:txBody>
      </p:sp>
      <p:sp>
        <p:nvSpPr>
          <p:cNvPr id="406" name="Google Shape;406;p6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Stack to </a:t>
            </a:r>
            <a:r>
              <a:rPr lang="en" b="1"/>
              <a:t>arrange widgets on top of a base widget</a:t>
            </a:r>
            <a:r>
              <a:rPr lang="en"/>
              <a:t>—often an image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widgets can </a:t>
            </a:r>
            <a:r>
              <a:rPr lang="en" b="1"/>
              <a:t>completely or partially overlap</a:t>
            </a:r>
            <a:r>
              <a:rPr lang="en"/>
              <a:t> the base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for widgets that overlap another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first widget in the list of children is the base widget; subsequent children are overlaid on top of that base widget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Stack’s content can’t scroll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"/>
              <a:t> Widget</a:t>
            </a:r>
            <a:endParaRPr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6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3" name="Google Shape;4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400" y="1433850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525" y="1671975"/>
            <a:ext cx="28575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  <a:r>
              <a:rPr lang="en"/>
              <a:t> Widget</a:t>
            </a:r>
            <a:endParaRPr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65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_buildStack() =&gt;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Stack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alignment: </a:t>
            </a:r>
            <a:r>
              <a:rPr lang="en" sz="12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Alignment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2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0.6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children: [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CircleAvatar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backgroundImage: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AssetImage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2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'images/pic.jpg'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radius: </a:t>
            </a:r>
            <a:r>
              <a:rPr lang="en" sz="12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decoration: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BoxDecoration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color: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Colors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.black45,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child: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2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'Mia B'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style: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TextStyle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fontSize: </a:t>
            </a:r>
            <a:r>
              <a:rPr lang="en" sz="12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fontWeight: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FontWeight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.bold,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color: </a:t>
            </a:r>
            <a:r>
              <a:rPr lang="en" sz="12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Colors</a:t>
            </a: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.white,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),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],</a:t>
            </a:r>
            <a:endParaRPr sz="12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);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6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Implements a </a:t>
            </a:r>
            <a:r>
              <a:rPr lang="en" b="1"/>
              <a:t>Material card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for presenting related nuggets of information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Accepts a single child, but that child can be a Row, Column, or other widget that holds a list of children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Displayed with rounded corners and a drop shadow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Card’s content can’t scroll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6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64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Often used with </a:t>
            </a:r>
            <a:r>
              <a:rPr lang="en" b="1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ListTile</a:t>
            </a:r>
            <a:endParaRPr b="1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By default, a </a:t>
            </a:r>
            <a:r>
              <a:rPr lang="en" b="1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/>
              <a:t> shrinks its size to 0 by 0 pixels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use </a:t>
            </a:r>
            <a:r>
              <a:rPr lang="en" b="1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SizedBox</a:t>
            </a:r>
            <a:r>
              <a:rPr lang="en"/>
              <a:t> to constrain the size of a card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33" name="Google Shape;43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525" y="3006263"/>
            <a:ext cx="28575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800" y="2465800"/>
            <a:ext cx="28575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Widget</a:t>
            </a:r>
            <a:endParaRPr>
              <a:solidFill>
                <a:srgbClr val="22222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6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_buildCard() =&gt;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SizedBox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height: </a:t>
            </a:r>
            <a:r>
              <a:rPr lang="en" sz="14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210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child: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Card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child: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children: [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ListTile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title: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4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'1625 Main Street'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style: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TextStyle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(fontWeight: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FontWeight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.w500)),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subtitle: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4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'My City, CA 99984'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leading: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Icons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.restaurant_menu,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color: </a:t>
            </a:r>
            <a:r>
              <a:rPr lang="en" sz="14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Colors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.blue[</a:t>
            </a:r>
            <a:r>
              <a:rPr lang="en" sz="1400">
                <a:solidFill>
                  <a:srgbClr val="006666"/>
                </a:solidFill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],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),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         ),</a:t>
            </a:r>
            <a:endParaRPr sz="1400"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],),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Composing Widgets</a:t>
            </a:r>
            <a:endParaRPr/>
          </a:p>
        </p:txBody>
      </p:sp>
      <p:sp>
        <p:nvSpPr>
          <p:cNvPr id="446" name="Google Shape;446;p6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following diagram is composed of 14 widgets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following diagram highlights the invisible widgets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widget tree for this is shown in the next slide</a:t>
            </a:r>
            <a:endParaRPr/>
          </a:p>
        </p:txBody>
      </p:sp>
      <p:pic>
        <p:nvPicPr>
          <p:cNvPr id="447" name="Google Shape;44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550" y="1864350"/>
            <a:ext cx="6151304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550" y="3388475"/>
            <a:ext cx="6287971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 Tree</a:t>
            </a:r>
            <a:endParaRPr/>
          </a:p>
        </p:txBody>
      </p:sp>
      <p:sp>
        <p:nvSpPr>
          <p:cNvPr id="454" name="Google Shape;454;p7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55" name="Google Shape;4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8300" y="61913"/>
            <a:ext cx="571500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75" y="1310000"/>
            <a:ext cx="4688875" cy="5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 Tree</a:t>
            </a:r>
            <a:endParaRPr/>
          </a:p>
        </p:txBody>
      </p:sp>
      <p:sp>
        <p:nvSpPr>
          <p:cNvPr id="462" name="Google Shape;462;p7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widget tree for the </a:t>
            </a:r>
            <a:r>
              <a:rPr lang="en" b="1"/>
              <a:t>ratings row</a:t>
            </a:r>
            <a:endParaRPr/>
          </a:p>
        </p:txBody>
      </p:sp>
      <p:pic>
        <p:nvPicPr>
          <p:cNvPr id="463" name="Google Shape;46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150" y="161224"/>
            <a:ext cx="5695325" cy="47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8" y="1841988"/>
            <a:ext cx="2739700" cy="16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Widget Tree</a:t>
            </a:r>
            <a:endParaRPr/>
          </a:p>
        </p:txBody>
      </p:sp>
      <p:sp>
        <p:nvSpPr>
          <p:cNvPr id="470" name="Google Shape;470;p7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widget tree for the </a:t>
            </a:r>
            <a:r>
              <a:rPr lang="en" b="1"/>
              <a:t>icons row</a:t>
            </a:r>
            <a:endParaRPr/>
          </a:p>
        </p:txBody>
      </p:sp>
      <p:pic>
        <p:nvPicPr>
          <p:cNvPr id="471" name="Google Shape;4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75" y="1087000"/>
            <a:ext cx="8626926" cy="39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2608" y="312188"/>
            <a:ext cx="2739700" cy="16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72"/>
          <p:cNvSpPr txBox="1"/>
          <p:nvPr/>
        </p:nvSpPr>
        <p:spPr>
          <a:xfrm>
            <a:off x="-108400" y="578200"/>
            <a:ext cx="693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User Interaction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7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MyButton </a:t>
            </a:r>
            <a:r>
              <a:rPr lang="en" sz="17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extends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StatelessWidget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@override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Widget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build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BuildContext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context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7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GestureDetector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  onTap: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" sz="1700">
                <a:solidFill>
                  <a:srgbClr val="1B87C9"/>
                </a:solidFill>
                <a:latin typeface="Roboto Mono"/>
                <a:ea typeface="Roboto Mono"/>
                <a:cs typeface="Roboto Mono"/>
                <a:sym typeface="Roboto Mono"/>
              </a:rPr>
              <a:t>'Container was tapped!'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  child: </a:t>
            </a:r>
            <a:r>
              <a:rPr lang="en" sz="1700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(),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 }</a:t>
            </a:r>
            <a:r>
              <a:rPr lang="en" sz="17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700"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  <p:sp>
        <p:nvSpPr>
          <p:cNvPr id="480" name="Google Shape;480;p73"/>
          <p:cNvSpPr txBox="1"/>
          <p:nvPr/>
        </p:nvSpPr>
        <p:spPr>
          <a:xfrm>
            <a:off x="5346825" y="2108600"/>
            <a:ext cx="3705300" cy="1596600"/>
          </a:xfrm>
          <a:prstGeom prst="rect">
            <a:avLst/>
          </a:prstGeom>
          <a:solidFill>
            <a:srgbClr val="FCE5CD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" sz="1800" b="1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GestureDetector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widget doesn’t have a visual representation but instead detects gestures made by the user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1" name="Google Shape;481;p73"/>
          <p:cNvSpPr txBox="1"/>
          <p:nvPr/>
        </p:nvSpPr>
        <p:spPr>
          <a:xfrm>
            <a:off x="5062125" y="3874050"/>
            <a:ext cx="3990000" cy="1035900"/>
          </a:xfrm>
          <a:prstGeom prst="rect">
            <a:avLst/>
          </a:prstGeom>
          <a:solidFill>
            <a:srgbClr val="F4CCCC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When the user taps the Container, the </a:t>
            </a:r>
            <a:r>
              <a:rPr lang="en" sz="1800" b="1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GestureDetector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calls its on</a:t>
            </a:r>
            <a:r>
              <a:rPr lang="en" sz="1800" b="1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rPr>
              <a:t>Tap()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callback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p73"/>
          <p:cNvSpPr txBox="1"/>
          <p:nvPr/>
        </p:nvSpPr>
        <p:spPr>
          <a:xfrm>
            <a:off x="1325425" y="3791275"/>
            <a:ext cx="3584400" cy="12918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You can use </a:t>
            </a:r>
            <a:r>
              <a:rPr lang="en" sz="1800" b="1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rPr>
              <a:t>GestureDetector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to detect a variety of input gestures, including taps, drags, and scales.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488" name="Google Shape;488;p7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789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List the possible widgets used in the app shown on the right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Show the possible widget composition in tree </a:t>
            </a:r>
            <a:r>
              <a:rPr lang="en" dirty="0" smtClean="0"/>
              <a:t>structure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smtClean="0"/>
              <a:t>Implement it.</a:t>
            </a:r>
            <a:endParaRPr dirty="0"/>
          </a:p>
        </p:txBody>
      </p:sp>
      <p:pic>
        <p:nvPicPr>
          <p:cNvPr id="489" name="Google Shape;4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763" y="190500"/>
            <a:ext cx="26765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1552</Words>
  <Application>Microsoft Office PowerPoint</Application>
  <PresentationFormat>On-screen Show (16:9)</PresentationFormat>
  <Paragraphs>324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Courier New</vt:lpstr>
      <vt:lpstr>PT Sans Narrow</vt:lpstr>
      <vt:lpstr>Open Sans</vt:lpstr>
      <vt:lpstr>Roboto Mono</vt:lpstr>
      <vt:lpstr>Tropic</vt:lpstr>
      <vt:lpstr>Common Widgets</vt:lpstr>
      <vt:lpstr>Topics</vt:lpstr>
      <vt:lpstr>Common flutter-cli Commands</vt:lpstr>
      <vt:lpstr>Using Scaffold Widget</vt:lpstr>
      <vt:lpstr>Scaffold</vt:lpstr>
      <vt:lpstr>Bottom Navigation  </vt:lpstr>
      <vt:lpstr>Bottom Navigation</vt:lpstr>
      <vt:lpstr>Navigating between items</vt:lpstr>
      <vt:lpstr>Navigating between items</vt:lpstr>
      <vt:lpstr>Navigating between items</vt:lpstr>
      <vt:lpstr>Navigating between items</vt:lpstr>
      <vt:lpstr>PowerPoint Presentation</vt:lpstr>
      <vt:lpstr>Display Widgets</vt:lpstr>
      <vt:lpstr>Text Widget</vt:lpstr>
      <vt:lpstr>Icon Widget</vt:lpstr>
      <vt:lpstr>Layout/Positioning widgets</vt:lpstr>
      <vt:lpstr>Container Widget</vt:lpstr>
      <vt:lpstr>Container Widget</vt:lpstr>
      <vt:lpstr>Row and Column Widgets</vt:lpstr>
      <vt:lpstr>Row and Column Widgets </vt:lpstr>
      <vt:lpstr>Row and Column Widgets </vt:lpstr>
      <vt:lpstr>Aligning widgets  </vt:lpstr>
      <vt:lpstr>Aligning widgets  </vt:lpstr>
      <vt:lpstr>Aligning widgets  </vt:lpstr>
      <vt:lpstr>Aligning widgets  </vt:lpstr>
      <vt:lpstr>Aligning widgets  </vt:lpstr>
      <vt:lpstr>GridView Widget    </vt:lpstr>
      <vt:lpstr>GridView Widget     </vt:lpstr>
      <vt:lpstr>GridView Widget     </vt:lpstr>
      <vt:lpstr>ListView Widget    </vt:lpstr>
      <vt:lpstr>ListView Widget     </vt:lpstr>
      <vt:lpstr>ListView Widget     </vt:lpstr>
      <vt:lpstr>ListView Widget     </vt:lpstr>
      <vt:lpstr>Stack Widget</vt:lpstr>
      <vt:lpstr>Stack Widget  </vt:lpstr>
      <vt:lpstr>Stack Widget  </vt:lpstr>
      <vt:lpstr>Card Widget   </vt:lpstr>
      <vt:lpstr>Card Widget    </vt:lpstr>
      <vt:lpstr>Card Widget    </vt:lpstr>
      <vt:lpstr>Composing Widgets</vt:lpstr>
      <vt:lpstr>Widget Tree</vt:lpstr>
      <vt:lpstr>Widget Tree</vt:lpstr>
      <vt:lpstr>Widget Tree</vt:lpstr>
      <vt:lpstr>Handling User Interaction  </vt:lpstr>
      <vt:lpstr>Quiz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Widgets</dc:title>
  <cp:lastModifiedBy>Hp</cp:lastModifiedBy>
  <cp:revision>5</cp:revision>
  <dcterms:modified xsi:type="dcterms:W3CDTF">2026-09-08T19:23:10Z</dcterms:modified>
</cp:coreProperties>
</file>