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9144000" cy="5143500" type="screen16x9"/>
  <p:notesSz cx="6858000" cy="9144000"/>
  <p:embeddedFontLst>
    <p:embeddedFont>
      <p:font typeface="PT Sans Narrow" charset="0"/>
      <p:regular r:id="rId24"/>
      <p:bold r:id="rId25"/>
    </p:embeddedFont>
    <p:embeddedFont>
      <p:font typeface="Open Sans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8" d="100"/>
          <a:sy n="108" d="100"/>
        </p:scale>
        <p:origin x="-56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9420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e0fada6f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e0fada6f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e0fada6f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e0fada6f0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e262af3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e262af3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e0fada6f0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e0fada6f0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e0fada6f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e0fada6f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e0fada6f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e0fada6f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e0fada6f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e0fada6f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e0fada6f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e0fada6f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e0fada6f0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1e0fada6f0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e0fada6f0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e0fada6f0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e0fada6f0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1e0fada6f0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e0fada6f0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1e0fada6f0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e0fada6f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e0fada6f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e0fada6f0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e0fada6f0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e0fada6f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e0fada6f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e0fada6f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e0fada6f0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e1dfca7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1e1dfca7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e1dfca73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1e1dfca73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e1dfca73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1e1dfca73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e1dfca73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1e1dfca73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Flutter Widgets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this lesson, you should have basic knowledge to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flutter applications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Stateless/Stateful widgets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style widgets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use flutter widgets such as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r>
              <a:rPr lang="en"/>
              <a:t>,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/>
              <a:t>,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Text, FloatingActionButton, </a:t>
            </a:r>
            <a:r>
              <a:rPr lang="en"/>
              <a:t>and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 Icon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 in VSCode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View -&gt; Command Palette </a:t>
            </a:r>
            <a:r>
              <a:rPr lang="en"/>
              <a:t>in VSCode or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Press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Ctrl+Shift+P</a:t>
            </a:r>
            <a:r>
              <a:rPr lang="en"/>
              <a:t> to open the command selection window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start typing  “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Flutter: New Project</a:t>
            </a:r>
            <a:r>
              <a:rPr lang="en"/>
              <a:t>” to filter the search down to the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Flutter: New Project</a:t>
            </a:r>
            <a:r>
              <a:rPr lang="en"/>
              <a:t> command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863" y="3320463"/>
            <a:ext cx="34956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 in VSCode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the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</a:t>
            </a:r>
            <a:r>
              <a:rPr lang="en"/>
              <a:t> template from the listed options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075" y="1882300"/>
            <a:ext cx="27051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 in VSCode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 folder to create the project in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Give a name to the project such as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recipes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813" y="2642175"/>
            <a:ext cx="60674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 in VSCode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Then the template project will be generated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8" y="2571738"/>
            <a:ext cx="86963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 from </a:t>
            </a: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Command Line</a:t>
            </a:r>
            <a:endParaRPr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the 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lang="en"/>
              <a:t> command to create the project from the command line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	flutter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recipes</a:t>
            </a:r>
            <a:endParaRPr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500" y="2709925"/>
            <a:ext cx="6417000" cy="2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New Flutter App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95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Once the project is created either using the IDE or the 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lang="en">
                <a:solidFill>
                  <a:srgbClr val="000000"/>
                </a:solidFill>
              </a:rPr>
              <a:t> command you will find the generated files in the </a:t>
            </a:r>
            <a:r>
              <a:rPr lang="en" b="1">
                <a:solidFill>
                  <a:srgbClr val="000000"/>
                </a:solidFill>
              </a:rPr>
              <a:t>recipes</a:t>
            </a:r>
            <a:r>
              <a:rPr lang="en">
                <a:solidFill>
                  <a:srgbClr val="000000"/>
                </a:solidFill>
              </a:rPr>
              <a:t> directory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generated template project contains a working demo application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275" y="171450"/>
            <a:ext cx="238125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the Demo (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"/>
              <a:t>) App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871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VSCode or the following command to build and run the application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lang="en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 should see a screen similar to the one shown on the emulator, android device or chrome browser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endParaRPr b="1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200" y="0"/>
            <a:ext cx="28320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Generated Code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73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main source code file (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main.dart</a:t>
            </a:r>
            <a:r>
              <a:rPr lang="en"/>
              <a:t>) for the generated application is found inside the 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lib</a:t>
            </a:r>
            <a:r>
              <a:rPr lang="en"/>
              <a:t> directory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800" y="1304825"/>
            <a:ext cx="1789800" cy="2916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Generated Code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main.dart</a:t>
            </a:r>
            <a:r>
              <a:rPr lang="en"/>
              <a:t> file contains the top level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r>
              <a:rPr lang="en"/>
              <a:t> function and three classes as shown below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025" y="1919925"/>
            <a:ext cx="6203975" cy="32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r>
              <a:rPr lang="en"/>
              <a:t> function</a:t>
            </a: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the entry point for the code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1009150" y="2169900"/>
            <a:ext cx="3865500" cy="12138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runApp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runApp()</a:t>
            </a:r>
            <a:r>
              <a:rPr lang="en"/>
              <a:t> function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sets the </a:t>
            </a:r>
            <a:r>
              <a:rPr lang="en" b="1"/>
              <a:t>top-level </a:t>
            </a:r>
            <a:r>
              <a:rPr lang="en"/>
              <a:t>widget of the app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takes the given Widget and makes it the root of the widget tree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MyApp</a:t>
            </a:r>
            <a:r>
              <a:rPr lang="en"/>
              <a:t> widget is now the top-level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0" name="Google Shape;150;p25"/>
          <p:cNvSpPr txBox="1"/>
          <p:nvPr/>
        </p:nvSpPr>
        <p:spPr>
          <a:xfrm>
            <a:off x="2985225" y="3190100"/>
            <a:ext cx="3865500" cy="12138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runApp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r>
              <a:rPr lang="en"/>
              <a:t> </a:t>
            </a:r>
            <a:r>
              <a:rPr lang="en" b="1"/>
              <a:t>doesn’t change</a:t>
            </a:r>
            <a:r>
              <a:rPr lang="en"/>
              <a:t> after you build it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808000" y="1726675"/>
            <a:ext cx="7260000" cy="33510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MyApp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 i="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6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build()</a:t>
            </a:r>
            <a:r>
              <a:rPr lang="en"/>
              <a:t> method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the </a:t>
            </a:r>
            <a:r>
              <a:rPr lang="en" b="1"/>
              <a:t>entry point for composing together other widgets</a:t>
            </a:r>
            <a:r>
              <a:rPr lang="en"/>
              <a:t> to make a new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1733025" y="2033575"/>
            <a:ext cx="7244700" cy="29553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0B5394"/>
                </a:solidFill>
              </a:rPr>
              <a:t>MaterialApp</a:t>
            </a:r>
            <a:r>
              <a:rPr lang="en"/>
              <a:t> widget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uses </a:t>
            </a:r>
            <a:r>
              <a:rPr lang="en" b="1"/>
              <a:t>Material Design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wraps a number of widgets that are commonly required for material design applications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929100" y="2662850"/>
            <a:ext cx="7285800" cy="23736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'Flutter Demo'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r>
              <a:rPr lang="en"/>
              <a:t>  know how to generate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/>
              <a:t> objects, which are then used to hold state</a:t>
            </a:r>
            <a:endParaRPr dirty="0"/>
          </a:p>
        </p:txBody>
      </p:sp>
      <p:sp>
        <p:nvSpPr>
          <p:cNvPr id="178" name="Google Shape;178;p29"/>
          <p:cNvSpPr txBox="1"/>
          <p:nvPr/>
        </p:nvSpPr>
        <p:spPr>
          <a:xfrm>
            <a:off x="651750" y="2317625"/>
            <a:ext cx="7840500" cy="2692200"/>
          </a:xfrm>
          <a:prstGeom prst="rect">
            <a:avLst/>
          </a:prstGeom>
          <a:solidFill>
            <a:srgbClr val="151313">
              <a:alpha val="9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.title})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title;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8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createState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class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Shown in the next slide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body" idx="1"/>
          </p:nvPr>
        </p:nvSpPr>
        <p:spPr>
          <a:xfrm>
            <a:off x="270450" y="42300"/>
            <a:ext cx="8520600" cy="5101200"/>
          </a:xfrm>
          <a:prstGeom prst="rect">
            <a:avLst/>
          </a:prstGeom>
          <a:solidFill>
            <a:srgbClr val="282A3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_counter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appBar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AppBar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(widget.title),),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dirty="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'$</a:t>
            </a:r>
            <a:r>
              <a:rPr lang="en" sz="1600" i="1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_counter</a:t>
            </a:r>
            <a:r>
              <a:rPr lang="en" sz="1600" dirty="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00" dirty="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).textTheme.headline4,),),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floatingActionButton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FloatingActionButton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onPressed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(() {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_counter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}),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tooltip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'Increment'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600" i="1" dirty="0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dirty="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.add),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),</a:t>
            </a:r>
            <a:endParaRPr sz="1600" dirty="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79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setState()</a:t>
            </a:r>
            <a:r>
              <a:rPr lang="en"/>
              <a:t> method</a:t>
            </a:r>
            <a:endParaRPr/>
          </a:p>
        </p:txBody>
      </p:sp>
      <p:sp>
        <p:nvSpPr>
          <p:cNvPr id="195" name="Google Shape;195;p32"/>
          <p:cNvSpPr txBox="1">
            <a:spLocks noGrp="1"/>
          </p:cNvSpPr>
          <p:nvPr>
            <p:ph type="body" idx="1"/>
          </p:nvPr>
        </p:nvSpPr>
        <p:spPr>
          <a:xfrm>
            <a:off x="311700" y="1190125"/>
            <a:ext cx="5676000" cy="3877200"/>
          </a:xfrm>
          <a:prstGeom prst="rect">
            <a:avLst/>
          </a:prstGeom>
          <a:solidFill>
            <a:srgbClr val="282A3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_counter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 i="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4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4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floatingActionButton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FloatingActionButton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4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onPressed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(() {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_counter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}),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400" i="1">
                <a:solidFill>
                  <a:srgbClr val="FFB86C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.add),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),</a:t>
            </a:r>
            <a:endParaRPr sz="14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/>
          </a:p>
        </p:txBody>
      </p:sp>
      <p:sp>
        <p:nvSpPr>
          <p:cNvPr id="196" name="Google Shape;196;p32"/>
          <p:cNvSpPr txBox="1"/>
          <p:nvPr/>
        </p:nvSpPr>
        <p:spPr>
          <a:xfrm>
            <a:off x="4493000" y="3528025"/>
            <a:ext cx="4566300" cy="1539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51313"/>
                </a:solidFill>
                <a:latin typeface="Open Sans"/>
                <a:ea typeface="Open Sans"/>
                <a:cs typeface="Open Sans"/>
                <a:sym typeface="Open Sans"/>
              </a:rPr>
              <a:t>tells the Flutter framework that something has changed in this </a:t>
            </a:r>
            <a:r>
              <a:rPr lang="en" sz="1600" b="1">
                <a:solidFill>
                  <a:srgbClr val="151313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600">
                <a:solidFill>
                  <a:srgbClr val="151313"/>
                </a:solidFill>
                <a:latin typeface="Open Sans"/>
                <a:ea typeface="Open Sans"/>
                <a:cs typeface="Open Sans"/>
                <a:sym typeface="Open Sans"/>
              </a:rPr>
              <a:t>, which causes it </a:t>
            </a:r>
            <a:r>
              <a:rPr lang="en" sz="1600" b="1">
                <a:solidFill>
                  <a:srgbClr val="151313"/>
                </a:solidFill>
                <a:latin typeface="Open Sans"/>
                <a:ea typeface="Open Sans"/>
                <a:cs typeface="Open Sans"/>
                <a:sym typeface="Open Sans"/>
              </a:rPr>
              <a:t>to rerun</a:t>
            </a:r>
            <a:r>
              <a:rPr lang="en" sz="1600">
                <a:solidFill>
                  <a:srgbClr val="151313"/>
                </a:solidFill>
                <a:latin typeface="Open Sans"/>
                <a:ea typeface="Open Sans"/>
                <a:cs typeface="Open Sans"/>
                <a:sym typeface="Open Sans"/>
              </a:rPr>
              <a:t> the </a:t>
            </a:r>
            <a:r>
              <a:rPr lang="en" sz="1600" b="1">
                <a:solidFill>
                  <a:srgbClr val="151313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600">
                <a:solidFill>
                  <a:srgbClr val="151313"/>
                </a:solidFill>
                <a:latin typeface="Open Sans"/>
                <a:ea typeface="Open Sans"/>
                <a:cs typeface="Open Sans"/>
                <a:sym typeface="Open Sans"/>
              </a:rPr>
              <a:t> method so that the display can reflect the updated value</a:t>
            </a:r>
            <a:endParaRPr sz="1600">
              <a:solidFill>
                <a:srgbClr val="15131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7" name="Google Shape;197;p32"/>
          <p:cNvCxnSpPr>
            <a:endCxn id="196" idx="1"/>
          </p:cNvCxnSpPr>
          <p:nvPr/>
        </p:nvCxnSpPr>
        <p:spPr>
          <a:xfrm>
            <a:off x="3565400" y="3344875"/>
            <a:ext cx="927600" cy="9528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43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Stateless Widget Class and the State class of the Stateful Widget class have build method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print a some debugging message on both method, how many times the message is printed in the Stateless Widget and in the Stateful Widget when you press the floating action button</a:t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200" y="0"/>
            <a:ext cx="28320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757</Words>
  <Application>Microsoft Office PowerPoint</Application>
  <PresentationFormat>On-screen Show (16:9)</PresentationFormat>
  <Paragraphs>131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PT Sans Narrow</vt:lpstr>
      <vt:lpstr>Courier New</vt:lpstr>
      <vt:lpstr>Open Sans</vt:lpstr>
      <vt:lpstr>Tropic</vt:lpstr>
      <vt:lpstr>Flutter Widgets</vt:lpstr>
      <vt:lpstr>Learning Outcomes</vt:lpstr>
      <vt:lpstr>Creating New Flutter App in VSCode</vt:lpstr>
      <vt:lpstr>Creating New Flutter App in VSCode</vt:lpstr>
      <vt:lpstr>Creating New Flutter App in VSCode  </vt:lpstr>
      <vt:lpstr>Creating New Flutter App in VSCode  </vt:lpstr>
      <vt:lpstr>Creating New Flutter App from Command Line </vt:lpstr>
      <vt:lpstr>Creating New Flutter App</vt:lpstr>
      <vt:lpstr>Running the Demo (Counter) App</vt:lpstr>
      <vt:lpstr>Exploring the Generated Code</vt:lpstr>
      <vt:lpstr>Exploring the Generated Code</vt:lpstr>
      <vt:lpstr>The main() function</vt:lpstr>
      <vt:lpstr>The runApp() function</vt:lpstr>
      <vt:lpstr>StatelessWidget</vt:lpstr>
      <vt:lpstr>The build() method </vt:lpstr>
      <vt:lpstr>The MaterialApp widget </vt:lpstr>
      <vt:lpstr>StatefulWidget   </vt:lpstr>
      <vt:lpstr>The State class</vt:lpstr>
      <vt:lpstr>PowerPoint Presentation</vt:lpstr>
      <vt:lpstr>The setState() method</vt:lpstr>
      <vt:lpstr>Question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Widgets</dc:title>
  <cp:lastModifiedBy>Hp</cp:lastModifiedBy>
  <cp:revision>3</cp:revision>
  <dcterms:modified xsi:type="dcterms:W3CDTF">2026-09-08T13:54:02Z</dcterms:modified>
</cp:coreProperties>
</file>