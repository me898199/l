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A1E8D9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3CA"/>
          </a:solidFill>
        </a:fill>
      </a:tcStyle>
    </a:wholeTbl>
    <a:band2H>
      <a:tcTxStyle b="def" i="def"/>
      <a:tcStyle>
        <a:tcBdr/>
        <a:fill>
          <a:solidFill>
            <a:srgbClr val="FCEA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5E2"/>
          </a:solidFill>
        </a:fill>
      </a:tcStyle>
    </a:wholeTbl>
    <a:band2H>
      <a:tcTxStyle b="def" i="def"/>
      <a:tcStyle>
        <a:tcBdr/>
        <a:fill>
          <a:solidFill>
            <a:srgbClr val="E8F2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FBF8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A1E8D9"/>
        </a:fontRef>
        <a:srgbClr val="A1E8D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A1E8D9"/>
              </a:solidFill>
              <a:prstDash val="solid"/>
              <a:round/>
            </a:ln>
          </a:top>
          <a:bottom>
            <a:ln w="254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A1E8D9"/>
              </a:solidFill>
              <a:prstDash val="solid"/>
              <a:round/>
            </a:ln>
          </a:top>
          <a:bottom>
            <a:ln w="254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F6F1"/>
          </a:solidFill>
        </a:fill>
      </a:tcStyle>
    </a:wholeTbl>
    <a:band2H>
      <a:tcTxStyle b="def" i="def"/>
      <a:tcStyle>
        <a:tcBdr/>
        <a:fill>
          <a:solidFill>
            <a:srgbClr val="F0FBF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A1E8D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A1E8D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A1E8D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A1E8D9"/>
              </a:solidFill>
              <a:prstDash val="solid"/>
              <a:round/>
            </a:ln>
          </a:left>
          <a:right>
            <a:ln w="12700" cap="flat">
              <a:solidFill>
                <a:srgbClr val="A1E8D9"/>
              </a:solidFill>
              <a:prstDash val="solid"/>
              <a:round/>
            </a:ln>
          </a:right>
          <a:top>
            <a:ln w="12700" cap="flat">
              <a:solidFill>
                <a:srgbClr val="A1E8D9"/>
              </a:solidFill>
              <a:prstDash val="solid"/>
              <a:round/>
            </a:ln>
          </a:top>
          <a:bottom>
            <a:ln w="127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solidFill>
                <a:srgbClr val="A1E8D9"/>
              </a:solidFill>
              <a:prstDash val="solid"/>
              <a:round/>
            </a:ln>
          </a:insideH>
          <a:insideV>
            <a:ln w="12700" cap="flat">
              <a:solidFill>
                <a:srgbClr val="A1E8D9"/>
              </a:solidFill>
              <a:prstDash val="solid"/>
              <a:round/>
            </a:ln>
          </a:insideV>
        </a:tcBdr>
        <a:fill>
          <a:solidFill>
            <a:srgbClr val="A1E8D9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A1E8D9"/>
              </a:solidFill>
              <a:prstDash val="solid"/>
              <a:round/>
            </a:ln>
          </a:left>
          <a:right>
            <a:ln w="12700" cap="flat">
              <a:solidFill>
                <a:srgbClr val="A1E8D9"/>
              </a:solidFill>
              <a:prstDash val="solid"/>
              <a:round/>
            </a:ln>
          </a:right>
          <a:top>
            <a:ln w="12700" cap="flat">
              <a:solidFill>
                <a:srgbClr val="A1E8D9"/>
              </a:solidFill>
              <a:prstDash val="solid"/>
              <a:round/>
            </a:ln>
          </a:top>
          <a:bottom>
            <a:ln w="127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solidFill>
                <a:srgbClr val="A1E8D9"/>
              </a:solidFill>
              <a:prstDash val="solid"/>
              <a:round/>
            </a:ln>
          </a:insideH>
          <a:insideV>
            <a:ln w="12700" cap="flat">
              <a:solidFill>
                <a:srgbClr val="A1E8D9"/>
              </a:solidFill>
              <a:prstDash val="solid"/>
              <a:round/>
            </a:ln>
          </a:insideV>
        </a:tcBdr>
        <a:fill>
          <a:solidFill>
            <a:srgbClr val="A1E8D9">
              <a:alpha val="20000"/>
            </a:srgbClr>
          </a:solidFill>
        </a:fill>
      </a:tcStyle>
    </a:firstCol>
    <a:lastRow>
      <a:tcTxStyle b="on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A1E8D9"/>
              </a:solidFill>
              <a:prstDash val="solid"/>
              <a:round/>
            </a:ln>
          </a:left>
          <a:right>
            <a:ln w="12700" cap="flat">
              <a:solidFill>
                <a:srgbClr val="A1E8D9"/>
              </a:solidFill>
              <a:prstDash val="solid"/>
              <a:round/>
            </a:ln>
          </a:right>
          <a:top>
            <a:ln w="50800" cap="flat">
              <a:solidFill>
                <a:srgbClr val="A1E8D9"/>
              </a:solidFill>
              <a:prstDash val="solid"/>
              <a:round/>
            </a:ln>
          </a:top>
          <a:bottom>
            <a:ln w="127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solidFill>
                <a:srgbClr val="A1E8D9"/>
              </a:solidFill>
              <a:prstDash val="solid"/>
              <a:round/>
            </a:ln>
          </a:insideH>
          <a:insideV>
            <a:ln w="12700" cap="flat">
              <a:solidFill>
                <a:srgbClr val="A1E8D9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A1E8D9"/>
        </a:fontRef>
        <a:srgbClr val="A1E8D9"/>
      </a:tcTxStyle>
      <a:tcStyle>
        <a:tcBdr>
          <a:left>
            <a:ln w="12700" cap="flat">
              <a:solidFill>
                <a:srgbClr val="A1E8D9"/>
              </a:solidFill>
              <a:prstDash val="solid"/>
              <a:round/>
            </a:ln>
          </a:left>
          <a:right>
            <a:ln w="12700" cap="flat">
              <a:solidFill>
                <a:srgbClr val="A1E8D9"/>
              </a:solidFill>
              <a:prstDash val="solid"/>
              <a:round/>
            </a:ln>
          </a:right>
          <a:top>
            <a:ln w="12700" cap="flat">
              <a:solidFill>
                <a:srgbClr val="A1E8D9"/>
              </a:solidFill>
              <a:prstDash val="solid"/>
              <a:round/>
            </a:ln>
          </a:top>
          <a:bottom>
            <a:ln w="25400" cap="flat">
              <a:solidFill>
                <a:srgbClr val="A1E8D9"/>
              </a:solidFill>
              <a:prstDash val="solid"/>
              <a:round/>
            </a:ln>
          </a:bottom>
          <a:insideH>
            <a:ln w="12700" cap="flat">
              <a:solidFill>
                <a:srgbClr val="A1E8D9"/>
              </a:solidFill>
              <a:prstDash val="solid"/>
              <a:round/>
            </a:ln>
          </a:insideH>
          <a:insideV>
            <a:ln w="12700" cap="flat">
              <a:solidFill>
                <a:srgbClr val="A1E8D9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2"/>
          <p:cNvSpPr/>
          <p:nvPr/>
        </p:nvSpPr>
        <p:spPr>
          <a:xfrm>
            <a:off x="7007735" y="3176888"/>
            <a:ext cx="562201" cy="1"/>
          </a:xfrm>
          <a:prstGeom prst="line">
            <a:avLst/>
          </a:prstGeom>
          <a:ln w="76200">
            <a:solidFill>
              <a:srgbClr val="B3A77D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" name="Google Shape;11;p2"/>
          <p:cNvSpPr/>
          <p:nvPr/>
        </p:nvSpPr>
        <p:spPr>
          <a:xfrm>
            <a:off x="1575034" y="3158251"/>
            <a:ext cx="562201" cy="1"/>
          </a:xfrm>
          <a:prstGeom prst="line">
            <a:avLst/>
          </a:prstGeom>
          <a:ln w="76200">
            <a:solidFill>
              <a:srgbClr val="B3A77D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6" name="Google Shape;12;p2"/>
          <p:cNvGrpSpPr/>
          <p:nvPr/>
        </p:nvGrpSpPr>
        <p:grpSpPr>
          <a:xfrm>
            <a:off x="1004144" y="1023295"/>
            <a:ext cx="7136669" cy="152401"/>
            <a:chOff x="0" y="0"/>
            <a:chExt cx="7136667" cy="152400"/>
          </a:xfrm>
        </p:grpSpPr>
        <p:sp>
          <p:nvSpPr>
            <p:cNvPr id="14" name="Google Shape;13;p2"/>
            <p:cNvSpPr/>
            <p:nvPr/>
          </p:nvSpPr>
          <p:spPr>
            <a:xfrm flipH="1" flipV="1">
              <a:off x="0" y="0"/>
              <a:ext cx="7136668" cy="1"/>
            </a:xfrm>
            <a:prstGeom prst="line">
              <a:avLst/>
            </a:prstGeom>
            <a:noFill/>
            <a:ln w="76200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" name="Google Shape;14;p2"/>
            <p:cNvSpPr/>
            <p:nvPr/>
          </p:nvSpPr>
          <p:spPr>
            <a:xfrm flipH="1" flipV="1">
              <a:off x="0" y="152400"/>
              <a:ext cx="7136668" cy="1"/>
            </a:xfrm>
            <a:prstGeom prst="line">
              <a:avLst/>
            </a:prstGeom>
            <a:noFill/>
            <a:ln w="9525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9" name="Google Shape;15;p2"/>
          <p:cNvGrpSpPr/>
          <p:nvPr/>
        </p:nvGrpSpPr>
        <p:grpSpPr>
          <a:xfrm>
            <a:off x="1004151" y="3969099"/>
            <a:ext cx="7136668" cy="152401"/>
            <a:chOff x="0" y="0"/>
            <a:chExt cx="7136667" cy="152400"/>
          </a:xfrm>
        </p:grpSpPr>
        <p:sp>
          <p:nvSpPr>
            <p:cNvPr id="17" name="Google Shape;16;p2"/>
            <p:cNvSpPr/>
            <p:nvPr/>
          </p:nvSpPr>
          <p:spPr>
            <a:xfrm>
              <a:off x="0" y="152400"/>
              <a:ext cx="7136668" cy="1"/>
            </a:xfrm>
            <a:prstGeom prst="line">
              <a:avLst/>
            </a:prstGeom>
            <a:noFill/>
            <a:ln w="76200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" name="Google Shape;17;p2"/>
            <p:cNvSpPr/>
            <p:nvPr/>
          </p:nvSpPr>
          <p:spPr>
            <a:xfrm>
              <a:off x="0" y="-1"/>
              <a:ext cx="7136668" cy="1"/>
            </a:xfrm>
            <a:prstGeom prst="line">
              <a:avLst/>
            </a:prstGeom>
            <a:noFill/>
            <a:ln w="9525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  <p:sp>
        <p:nvSpPr>
          <p:cNvPr id="20" name="Title Text"/>
          <p:cNvSpPr txBox="1"/>
          <p:nvPr>
            <p:ph type="title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2137224" y="2850039"/>
            <a:ext cx="4870501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4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4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4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4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2;p3"/>
          <p:cNvSpPr/>
          <p:nvPr/>
        </p:nvSpPr>
        <p:spPr>
          <a:xfrm>
            <a:off x="-50" y="2571899"/>
            <a:ext cx="9144001" cy="25716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0" name="Title Text"/>
          <p:cNvSpPr txBox="1"/>
          <p:nvPr>
            <p:ph type="title"/>
          </p:nvPr>
        </p:nvSpPr>
        <p:spPr>
          <a:xfrm>
            <a:off x="311699" y="814799"/>
            <a:ext cx="8571302" cy="942001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311699" y="1266175"/>
            <a:ext cx="3999902" cy="33027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Google Shape;33;p5"/>
          <p:cNvSpPr txBox="1"/>
          <p:nvPr>
            <p:ph type="body" sz="half" idx="21"/>
          </p:nvPr>
        </p:nvSpPr>
        <p:spPr>
          <a:xfrm>
            <a:off x="4832399" y="1266175"/>
            <a:ext cx="3999902" cy="3302701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6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IN_POINT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490250" y="526349"/>
            <a:ext cx="5613601" cy="4090801"/>
          </a:xfrm>
          <a:prstGeom prst="rect">
            <a:avLst/>
          </a:prstGeom>
        </p:spPr>
        <p:txBody>
          <a:bodyPr anchor="ctr"/>
          <a:lstStyle>
            <a:lvl1pPr>
              <a:defRPr b="0" sz="5400">
                <a:solidFill>
                  <a:srgbClr val="695D46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83" name="Google Shape;47;p9"/>
          <p:cNvSpPr/>
          <p:nvPr/>
        </p:nvSpPr>
        <p:spPr>
          <a:xfrm>
            <a:off x="5029675" y="4495500"/>
            <a:ext cx="468301" cy="1"/>
          </a:xfrm>
          <a:prstGeom prst="line">
            <a:avLst/>
          </a:prstGeom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4" name="Title Text"/>
          <p:cNvSpPr txBox="1"/>
          <p:nvPr>
            <p:ph type="title"/>
          </p:nvPr>
        </p:nvSpPr>
        <p:spPr>
          <a:xfrm>
            <a:off x="265500" y="1039675"/>
            <a:ext cx="4045200" cy="16758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265500" y="27268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Google Shape;50;p9"/>
          <p:cNvSpPr txBox="1"/>
          <p:nvPr>
            <p:ph type="body" sz="half" idx="21"/>
          </p:nvPr>
        </p:nvSpPr>
        <p:spPr>
          <a:xfrm>
            <a:off x="4939500" y="724199"/>
            <a:ext cx="3837000" cy="3695101"/>
          </a:xfrm>
          <a:prstGeom prst="rect">
            <a:avLst/>
          </a:prstGeom>
        </p:spPr>
        <p:txBody>
          <a:bodyPr anchor="ctr"/>
          <a:lstStyle/>
          <a:p>
            <a:pPr>
              <a:buClr>
                <a:srgbClr val="FFFFFF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sz="quarter" idx="1"/>
          </p:nvPr>
        </p:nvSpPr>
        <p:spPr>
          <a:xfrm>
            <a:off x="311699" y="4230725"/>
            <a:ext cx="5998802" cy="5988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L="1141185" indent="-544285">
              <a:lnSpc>
                <a:spcPct val="100000"/>
              </a:lnSpc>
              <a:buClrTx/>
              <a:buSzPts val="2400"/>
              <a:buFontTx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L="1598385" indent="-544285">
              <a:lnSpc>
                <a:spcPct val="100000"/>
              </a:lnSpc>
              <a:buClrTx/>
              <a:buSzPts val="2400"/>
              <a:buFontTx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L="2055585" indent="-544285">
              <a:lnSpc>
                <a:spcPct val="100000"/>
              </a:lnSpc>
              <a:buClrTx/>
              <a:buSzPts val="2400"/>
              <a:buFontTx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L="2512785" indent="-544285">
              <a:lnSpc>
                <a:spcPct val="100000"/>
              </a:lnSpc>
              <a:buClrTx/>
              <a:buSzPts val="2400"/>
              <a:buFontTx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56;p11"/>
          <p:cNvSpPr/>
          <p:nvPr/>
        </p:nvSpPr>
        <p:spPr>
          <a:xfrm>
            <a:off x="-75" y="5045700"/>
            <a:ext cx="9144001" cy="97801"/>
          </a:xfrm>
          <a:prstGeom prst="rect">
            <a:avLst/>
          </a:prstGeom>
          <a:solidFill>
            <a:srgbClr val="B3A77D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103" name="xx%"/>
          <p:cNvSpPr txBox="1"/>
          <p:nvPr>
            <p:ph type="title" hasCustomPrompt="1"/>
          </p:nvPr>
        </p:nvSpPr>
        <p:spPr>
          <a:xfrm>
            <a:off x="311699" y="1304850"/>
            <a:ext cx="8520602" cy="1538400"/>
          </a:xfrm>
          <a:prstGeom prst="rect">
            <a:avLst/>
          </a:prstGeom>
        </p:spPr>
        <p:txBody>
          <a:bodyPr anchor="ctr"/>
          <a:lstStyle>
            <a:lvl1pPr algn="ctr">
              <a:defRPr sz="13000">
                <a:solidFill>
                  <a:schemeClr val="accent3"/>
                </a:solidFill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104" name="Body Level One…"/>
          <p:cNvSpPr txBox="1"/>
          <p:nvPr>
            <p:ph type="body" sz="quarter" idx="1"/>
          </p:nvPr>
        </p:nvSpPr>
        <p:spPr>
          <a:xfrm>
            <a:off x="311699" y="2995650"/>
            <a:ext cx="8520602" cy="1071601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;p4"/>
          <p:cNvSpPr/>
          <p:nvPr/>
        </p:nvSpPr>
        <p:spPr>
          <a:xfrm>
            <a:off x="-75" y="5045700"/>
            <a:ext cx="9144001" cy="97801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311699" y="1266325"/>
            <a:ext cx="8520602" cy="330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8684345" y="4692391"/>
            <a:ext cx="336814" cy="3352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chemeClr val="accent1"/>
          </a:solidFill>
          <a:uFillTx/>
          <a:latin typeface="PT Sans Narrow"/>
          <a:ea typeface="PT Sans Narrow"/>
          <a:cs typeface="PT Sans Narrow"/>
          <a:sym typeface="PT Sans Narrow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●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○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695D46"/>
        </a:buClr>
        <a:buSzPts val="1800"/>
        <a:buFont typeface="Helvetica"/>
        <a:buChar char="■"/>
        <a:tabLst/>
        <a:defRPr b="0" baseline="0" cap="none" i="0" spc="0" strike="noStrike" sz="1800" u="none">
          <a:solidFill>
            <a:srgbClr val="695D46"/>
          </a:solidFill>
          <a:uFillTx/>
          <a:latin typeface="Open Sans"/>
          <a:ea typeface="Open Sans"/>
          <a:cs typeface="Open Sans"/>
          <a:sym typeface="Open San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epb.bibl.th-koeln.de/frontdoor/deliver/index/docId/1498/file/flutter-for-the-dev-of-large-scale-ref-app.pdf" TargetMode="External"/><Relationship Id="rId3" Type="http://schemas.openxmlformats.org/officeDocument/2006/relationships/hyperlink" Target="https://flutter.dev/docs" TargetMode="External"/><Relationship Id="rId4" Type="http://schemas.openxmlformats.org/officeDocument/2006/relationships/hyperlink" Target="https://bloclibrary.dev/#/fluttercountertutorial" TargetMode="External"/><Relationship Id="rId5" Type="http://schemas.openxmlformats.org/officeDocument/2006/relationships/hyperlink" Target="https://bloclibrary.dev/#/fluttertimertutorial" TargetMode="External"/><Relationship Id="rId6" Type="http://schemas.openxmlformats.org/officeDocument/2006/relationships/hyperlink" Target="https://bloclibrary.dev/#/flutterlogintutorial" TargetMode="External"/><Relationship Id="rId7" Type="http://schemas.openxmlformats.org/officeDocument/2006/relationships/hyperlink" Target="https://bloclibrary.dev/#/flutterweathertutorial" TargetMode="External"/><Relationship Id="rId8" Type="http://schemas.openxmlformats.org/officeDocument/2006/relationships/hyperlink" Target="https://bloclibrary.dev/#/fluttertodostutorial" TargetMode="Externa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6;p13"/>
          <p:cNvSpPr txBox="1"/>
          <p:nvPr>
            <p:ph type="ctrTitle"/>
          </p:nvPr>
        </p:nvSpPr>
        <p:spPr>
          <a:xfrm>
            <a:off x="1003649" y="1827639"/>
            <a:ext cx="7136701" cy="1022401"/>
          </a:xfrm>
          <a:prstGeom prst="rect">
            <a:avLst/>
          </a:prstGeom>
        </p:spPr>
        <p:txBody>
          <a:bodyPr/>
          <a:lstStyle>
            <a:lvl1pPr defTabSz="749808">
              <a:defRPr sz="3936"/>
            </a:lvl1pPr>
          </a:lstStyle>
          <a:p>
            <a:pPr/>
            <a:r>
              <a:t>State Management and Network Access</a:t>
            </a:r>
          </a:p>
        </p:txBody>
      </p:sp>
      <p:sp>
        <p:nvSpPr>
          <p:cNvPr id="122" name="Google Shape;67;p13"/>
          <p:cNvSpPr txBox="1"/>
          <p:nvPr>
            <p:ph type="subTitle" sz="quarter" idx="1"/>
          </p:nvPr>
        </p:nvSpPr>
        <p:spPr>
          <a:xfrm>
            <a:off x="2137224" y="2850039"/>
            <a:ext cx="4870501" cy="792601"/>
          </a:xfrm>
          <a:prstGeom prst="rect">
            <a:avLst/>
          </a:prstGeom>
        </p:spPr>
        <p:txBody>
          <a:bodyPr/>
          <a:lstStyle>
            <a:lvl1pPr marL="0" indent="0"/>
          </a:lstStyle>
          <a:p>
            <a:pPr/>
            <a:r>
              <a:t>in Flutter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72;p14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Learning Outcome</a:t>
            </a:r>
          </a:p>
        </p:txBody>
      </p:sp>
      <p:sp>
        <p:nvSpPr>
          <p:cNvPr id="125" name="Google Shape;73;p14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After completing this lesson, you should be able to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Explain the importance of state management	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Explain the purpose of Inherited Widget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Explain the basic concept of Bloc state management solution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Use Bloc state management solution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Make network requests using the Flutter’s http package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78;p15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Stateful Widget</a:t>
            </a:r>
          </a:p>
        </p:txBody>
      </p:sp>
      <p:sp>
        <p:nvSpPr>
          <p:cNvPr id="128" name="Google Shape;79;p15"/>
          <p:cNvSpPr txBox="1"/>
          <p:nvPr>
            <p:ph type="body" sz="half" idx="1"/>
          </p:nvPr>
        </p:nvSpPr>
        <p:spPr>
          <a:xfrm>
            <a:off x="-1" y="1266325"/>
            <a:ext cx="4265702" cy="3302701"/>
          </a:xfrm>
          <a:prstGeom prst="rect">
            <a:avLst/>
          </a:prstGeom>
          <a:solidFill>
            <a:srgbClr val="FCE5CD"/>
          </a:solidFill>
        </p:spPr>
        <p:txBody>
          <a:bodyPr/>
          <a:lstStyle/>
          <a:p>
            <a:pPr marL="0" indent="0">
              <a:spcBef>
                <a:spcPts val="1000"/>
              </a:spcBef>
              <a:buSzTx/>
              <a:buNone/>
              <a:defRPr sz="1400">
                <a:solidFill>
                  <a:srgbClr val="1FBAAC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class</a:t>
            </a:r>
            <a:r>
              <a:rPr>
                <a:solidFill>
                  <a:srgbClr val="212529"/>
                </a:solidFill>
              </a:rPr>
              <a:t> Counter </a:t>
            </a:r>
            <a:r>
              <a:t>extends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StatefulWidget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12529"/>
              </a:solidFill>
            </a:endParaRPr>
          </a:p>
          <a:p>
            <a:pPr marL="0" indent="0">
              <a:spcBef>
                <a:spcPts val="1000"/>
              </a:spcBef>
              <a:buSzTx/>
              <a:buNone/>
              <a:defRPr sz="14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@override</a:t>
            </a:r>
          </a:p>
          <a:p>
            <a:pPr marL="0" indent="0">
              <a:buSzTx/>
              <a:buNone/>
              <a:defRPr sz="14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660066"/>
                </a:solidFill>
              </a:rPr>
              <a:t>_CounterState</a:t>
            </a:r>
            <a:r>
              <a:t> </a:t>
            </a:r>
            <a:r>
              <a:rPr>
                <a:solidFill>
                  <a:srgbClr val="660066"/>
                </a:solidFill>
              </a:rPr>
              <a:t>createState</a:t>
            </a:r>
            <a:r>
              <a:rPr>
                <a:solidFill>
                  <a:srgbClr val="222222"/>
                </a:solidFill>
              </a:rPr>
              <a:t>()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22222"/>
              </a:solidFill>
            </a:endParaRPr>
          </a:p>
          <a:p>
            <a:pPr marL="0" indent="0">
              <a:spcBef>
                <a:spcPts val="1000"/>
              </a:spcBef>
              <a:buSzTx/>
              <a:buNone/>
              <a:defRPr sz="14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return </a:t>
            </a:r>
            <a:r>
              <a:rPr>
                <a:solidFill>
                  <a:srgbClr val="660066"/>
                </a:solidFill>
              </a:rPr>
              <a:t>_CounterState</a:t>
            </a:r>
            <a:r>
              <a:rPr>
                <a:solidFill>
                  <a:srgbClr val="222222"/>
                </a:solidFill>
              </a:rPr>
              <a:t>();</a:t>
            </a:r>
            <a:endParaRPr>
              <a:solidFill>
                <a:srgbClr val="222222"/>
              </a:solidFill>
            </a:endParaRPr>
          </a:p>
          <a:p>
            <a:pPr marL="0" indent="0">
              <a:spcBef>
                <a:spcPts val="1000"/>
              </a:spcBef>
              <a:buSzTx/>
              <a:buNone/>
              <a:defRPr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}</a:t>
            </a:r>
          </a:p>
          <a:p>
            <a:pPr marL="0" indent="0">
              <a:spcBef>
                <a:spcPts val="1000"/>
              </a:spcBef>
              <a:buSzTx/>
              <a:buNone/>
              <a:defRPr sz="1400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}</a:t>
            </a:r>
          </a:p>
        </p:txBody>
      </p:sp>
      <p:grpSp>
        <p:nvGrpSpPr>
          <p:cNvPr id="131" name="Google Shape;80;p15"/>
          <p:cNvGrpSpPr/>
          <p:nvPr/>
        </p:nvGrpSpPr>
        <p:grpSpPr>
          <a:xfrm>
            <a:off x="4408725" y="112950"/>
            <a:ext cx="4704001" cy="4932651"/>
            <a:chOff x="0" y="0"/>
            <a:chExt cx="4704000" cy="4932650"/>
          </a:xfrm>
        </p:grpSpPr>
        <p:sp>
          <p:nvSpPr>
            <p:cNvPr id="129" name="Rectangle"/>
            <p:cNvSpPr/>
            <p:nvPr/>
          </p:nvSpPr>
          <p:spPr>
            <a:xfrm>
              <a:off x="0" y="0"/>
              <a:ext cx="4704001" cy="4917600"/>
            </a:xfrm>
            <a:prstGeom prst="rect">
              <a:avLst/>
            </a:prstGeom>
            <a:solidFill>
              <a:srgbClr val="F3F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</a:p>
          </p:txBody>
        </p:sp>
        <p:sp>
          <p:nvSpPr>
            <p:cNvPr id="130" name="class _CounterState extends State&lt;Counter&gt; {…"/>
            <p:cNvSpPr txBox="1"/>
            <p:nvPr/>
          </p:nvSpPr>
          <p:spPr>
            <a:xfrm>
              <a:off x="0" y="0"/>
              <a:ext cx="4704001" cy="4932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/>
            <a:p>
              <a:pPr>
                <a:defRPr>
                  <a:solidFill>
                    <a:srgbClr val="1FBAAC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class</a:t>
              </a:r>
              <a:r>
                <a:rPr>
                  <a:solidFill>
                    <a:srgbClr val="212529"/>
                  </a:solidFill>
                </a:rPr>
                <a:t> _CounterState </a:t>
              </a:r>
              <a:r>
                <a:t>extends</a:t>
              </a:r>
              <a:r>
                <a:rPr>
                  <a:solidFill>
                    <a:srgbClr val="212529"/>
                  </a:solidFill>
                </a:rPr>
                <a:t> </a:t>
              </a:r>
              <a:r>
                <a:rPr>
                  <a:solidFill>
                    <a:srgbClr val="660066"/>
                  </a:solidFill>
                </a:rPr>
                <a:t>State</a:t>
              </a:r>
              <a:r>
                <a:rPr>
                  <a:solidFill>
                    <a:srgbClr val="222222"/>
                  </a:solidFill>
                </a:rPr>
                <a:t>&lt;</a:t>
              </a:r>
              <a:r>
                <a:rPr>
                  <a:solidFill>
                    <a:srgbClr val="660066"/>
                  </a:solidFill>
                </a:rPr>
                <a:t>Counter</a:t>
              </a:r>
              <a:r>
                <a:rPr>
                  <a:solidFill>
                    <a:srgbClr val="222222"/>
                  </a:solidFill>
                </a:rPr>
                <a:t>&gt;</a:t>
              </a:r>
              <a:r>
                <a:rPr>
                  <a:solidFill>
                    <a:srgbClr val="212529"/>
                  </a:solidFill>
                </a:rPr>
                <a:t> </a:t>
              </a:r>
              <a:r>
                <a:rPr>
                  <a:solidFill>
                    <a:srgbClr val="222222"/>
                  </a:solidFill>
                </a:rPr>
                <a:t>{</a:t>
              </a:r>
              <a:endParaRPr>
                <a:solidFill>
                  <a:srgbClr val="212529"/>
                </a:solidFill>
              </a:endParaRP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</a:t>
              </a:r>
              <a:r>
                <a:rPr>
                  <a:solidFill>
                    <a:srgbClr val="1FBAAC"/>
                  </a:solidFill>
                </a:rPr>
                <a:t>int</a:t>
              </a:r>
              <a:r>
                <a:t> </a:t>
              </a:r>
              <a:r>
                <a:rPr>
                  <a:solidFill>
                    <a:srgbClr val="660066"/>
                  </a:solidFill>
                </a:rPr>
                <a:t>_counter</a:t>
              </a:r>
              <a:r>
                <a:t> </a:t>
              </a:r>
              <a:r>
                <a:rPr>
                  <a:solidFill>
                    <a:srgbClr val="222222"/>
                  </a:solidFill>
                </a:rPr>
                <a:t>=</a:t>
              </a:r>
              <a:r>
                <a:t> 0</a:t>
              </a:r>
              <a:r>
                <a:rPr>
                  <a:solidFill>
                    <a:srgbClr val="222222"/>
                  </a:solidFill>
                </a:rPr>
                <a:t>;</a:t>
              </a:r>
            </a:p>
            <a:p>
              <a:pPr>
                <a:defRPr>
                  <a:solidFill>
                    <a:srgbClr val="000000"/>
                  </a:solidFill>
                </a:defRPr>
              </a:pPr>
              <a:endPara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</a:t>
              </a:r>
              <a:r>
                <a:rPr>
                  <a:solidFill>
                    <a:srgbClr val="1FBAAC"/>
                  </a:solidFill>
                </a:rPr>
                <a:t>void</a:t>
              </a:r>
              <a:r>
                <a:t> </a:t>
              </a:r>
              <a:r>
                <a:rPr>
                  <a:solidFill>
                    <a:srgbClr val="660066"/>
                  </a:solidFill>
                </a:rPr>
                <a:t>_increment</a:t>
              </a:r>
              <a:r>
                <a:rPr>
                  <a:solidFill>
                    <a:srgbClr val="222222"/>
                  </a:solidFill>
                </a:rPr>
                <a:t>()</a:t>
              </a:r>
              <a:r>
                <a:t> </a:t>
              </a:r>
              <a:r>
                <a:rPr>
                  <a:solidFill>
                    <a:srgbClr val="222222"/>
                  </a:solidFill>
                </a:rPr>
                <a:t>{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</a:t>
              </a:r>
              <a:r>
                <a:rPr>
                  <a:solidFill>
                    <a:srgbClr val="660066"/>
                  </a:solidFill>
                </a:rPr>
                <a:t>setState</a:t>
              </a:r>
              <a:r>
                <a:rPr>
                  <a:solidFill>
                    <a:srgbClr val="222222"/>
                  </a:solidFill>
                </a:rPr>
                <a:t>(()</a:t>
              </a:r>
              <a:r>
                <a:t> </a:t>
              </a:r>
              <a:r>
                <a:rPr>
                  <a:solidFill>
                    <a:srgbClr val="222222"/>
                  </a:solidFill>
                </a:rPr>
                <a:t>{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</a:t>
              </a:r>
              <a:r>
                <a:rPr>
                  <a:solidFill>
                    <a:srgbClr val="660066"/>
                  </a:solidFill>
                </a:rPr>
                <a:t>_counter</a:t>
              </a:r>
              <a:r>
                <a:rPr>
                  <a:solidFill>
                    <a:srgbClr val="222222"/>
                  </a:solidFill>
                </a:rPr>
                <a:t>++;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</a:t>
              </a:r>
              <a:r>
                <a:rPr>
                  <a:solidFill>
                    <a:srgbClr val="222222"/>
                  </a:solidFill>
                </a:rPr>
                <a:t>});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</a:t>
              </a:r>
              <a:r>
                <a:rPr>
                  <a:solidFill>
                    <a:srgbClr val="222222"/>
                  </a:solidFill>
                </a:rPr>
                <a:t>}</a:t>
              </a:r>
            </a:p>
            <a:p>
              <a:pPr>
                <a:defRPr>
                  <a:solidFill>
                    <a:srgbClr val="000000"/>
                  </a:solidFill>
                </a:defRPr>
              </a:pPr>
              <a:endPara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@override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</a:t>
              </a:r>
              <a:r>
                <a:rPr>
                  <a:solidFill>
                    <a:srgbClr val="660066"/>
                  </a:solidFill>
                </a:rPr>
                <a:t>Widget</a:t>
              </a:r>
              <a:r>
                <a:t> </a:t>
              </a:r>
              <a:r>
                <a:rPr>
                  <a:solidFill>
                    <a:srgbClr val="660066"/>
                  </a:solidFill>
                </a:rPr>
                <a:t>build</a:t>
              </a:r>
              <a:r>
                <a:rPr>
                  <a:solidFill>
                    <a:srgbClr val="222222"/>
                  </a:solidFill>
                </a:rPr>
                <a:t>(</a:t>
              </a:r>
              <a:r>
                <a:rPr>
                  <a:solidFill>
                    <a:srgbClr val="660066"/>
                  </a:solidFill>
                </a:rPr>
                <a:t>BuildContext</a:t>
              </a:r>
              <a:r>
                <a:t> </a:t>
              </a:r>
              <a:r>
                <a:rPr>
                  <a:solidFill>
                    <a:srgbClr val="660066"/>
                  </a:solidFill>
                </a:rPr>
                <a:t>context</a:t>
              </a:r>
              <a:r>
                <a:rPr>
                  <a:solidFill>
                    <a:srgbClr val="222222"/>
                  </a:solidFill>
                </a:rPr>
                <a:t>)</a:t>
              </a:r>
              <a:r>
                <a:t> </a:t>
              </a:r>
              <a:r>
                <a:rPr>
                  <a:solidFill>
                    <a:srgbClr val="222222"/>
                  </a:solidFill>
                </a:rPr>
                <a:t>{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</a:t>
              </a:r>
              <a:r>
                <a:rPr>
                  <a:solidFill>
                    <a:srgbClr val="1FBAAC"/>
                  </a:solidFill>
                </a:rPr>
                <a:t>return</a:t>
              </a:r>
              <a:r>
                <a:t> </a:t>
              </a:r>
              <a:r>
                <a:rPr>
                  <a:solidFill>
                    <a:srgbClr val="660066"/>
                  </a:solidFill>
                </a:rPr>
                <a:t>Row</a:t>
              </a:r>
              <a:r>
                <a:rPr>
                  <a:solidFill>
                    <a:srgbClr val="222222"/>
                  </a:solidFill>
                </a:rPr>
                <a:t>(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children: </a:t>
              </a:r>
              <a:r>
                <a:rPr>
                  <a:solidFill>
                    <a:srgbClr val="222222"/>
                  </a:solidFill>
                </a:rPr>
                <a:t>&lt;</a:t>
              </a:r>
              <a:r>
                <a:rPr>
                  <a:solidFill>
                    <a:srgbClr val="660066"/>
                  </a:solidFill>
                </a:rPr>
                <a:t>Widget</a:t>
              </a:r>
              <a:r>
                <a:rPr>
                  <a:solidFill>
                    <a:srgbClr val="222222"/>
                  </a:solidFill>
                </a:rPr>
                <a:t>&gt;[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  </a:t>
              </a:r>
              <a:r>
                <a:rPr>
                  <a:solidFill>
                    <a:srgbClr val="660066"/>
                  </a:solidFill>
                </a:rPr>
                <a:t>ElevatedButton</a:t>
              </a:r>
              <a:r>
                <a:rPr>
                  <a:solidFill>
                    <a:srgbClr val="222222"/>
                  </a:solidFill>
                </a:rPr>
                <a:t>(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    onPressed: </a:t>
              </a:r>
              <a:r>
                <a:rPr>
                  <a:solidFill>
                    <a:srgbClr val="660066"/>
                  </a:solidFill>
                </a:rPr>
                <a:t>_increment</a:t>
              </a:r>
              <a:r>
                <a:rPr>
                  <a:solidFill>
                    <a:srgbClr val="222222"/>
                  </a:solidFill>
                </a:rPr>
                <a:t>,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    child: </a:t>
              </a:r>
              <a:r>
                <a:rPr>
                  <a:solidFill>
                    <a:srgbClr val="660066"/>
                  </a:solidFill>
                </a:rPr>
                <a:t>Text</a:t>
              </a:r>
              <a:r>
                <a:rPr>
                  <a:solidFill>
                    <a:srgbClr val="222222"/>
                  </a:solidFill>
                </a:rPr>
                <a:t>(</a:t>
              </a:r>
              <a:r>
                <a:rPr>
                  <a:solidFill>
                    <a:srgbClr val="1B87C9"/>
                  </a:solidFill>
                </a:rPr>
                <a:t>'Increment'</a:t>
              </a:r>
              <a:r>
                <a:rPr>
                  <a:solidFill>
                    <a:srgbClr val="222222"/>
                  </a:solidFill>
                </a:rPr>
                <a:t>),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  </a:t>
              </a:r>
              <a:r>
                <a:rPr>
                  <a:solidFill>
                    <a:srgbClr val="222222"/>
                  </a:solidFill>
                </a:rPr>
                <a:t>),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  </a:t>
              </a:r>
              <a:r>
                <a:rPr>
                  <a:solidFill>
                    <a:srgbClr val="660066"/>
                  </a:solidFill>
                </a:rPr>
                <a:t>Text</a:t>
              </a:r>
              <a:r>
                <a:rPr>
                  <a:solidFill>
                    <a:srgbClr val="222222"/>
                  </a:solidFill>
                </a:rPr>
                <a:t>(</a:t>
              </a:r>
              <a:r>
                <a:rPr>
                  <a:solidFill>
                    <a:srgbClr val="1B87C9"/>
                  </a:solidFill>
                </a:rPr>
                <a:t>'Count: </a:t>
              </a:r>
              <a:r>
                <a:t>$_counter</a:t>
              </a:r>
              <a:r>
                <a:rPr>
                  <a:solidFill>
                    <a:srgbClr val="1B87C9"/>
                  </a:solidFill>
                </a:rPr>
                <a:t>'</a:t>
              </a:r>
              <a:r>
                <a:rPr>
                  <a:solidFill>
                    <a:srgbClr val="222222"/>
                  </a:solidFill>
                </a:rPr>
                <a:t>),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  </a:t>
              </a:r>
              <a:r>
                <a:rPr>
                  <a:solidFill>
                    <a:srgbClr val="222222"/>
                  </a:solidFill>
                </a:rPr>
                <a:t>],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  </a:t>
              </a:r>
              <a:r>
                <a:rPr>
                  <a:solidFill>
                    <a:srgbClr val="222222"/>
                  </a:solidFill>
                </a:rPr>
                <a:t>);</a:t>
              </a:r>
            </a:p>
            <a:p>
              <a:pPr>
                <a:defRPr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  </a:t>
              </a:r>
              <a:r>
                <a:rPr>
                  <a:solidFill>
                    <a:srgbClr val="222222"/>
                  </a:solidFill>
                </a:rPr>
                <a:t>}</a:t>
              </a:r>
            </a:p>
            <a:p>
              <a:pPr>
                <a:defRPr>
                  <a:solidFill>
                    <a:srgbClr val="222222"/>
                  </a:solidFill>
                  <a:latin typeface="Roboto Mono"/>
                  <a:ea typeface="Roboto Mono"/>
                  <a:cs typeface="Roboto Mono"/>
                  <a:sym typeface="Roboto Mono"/>
                </a:defRPr>
              </a:pPr>
              <a:r>
                <a:t>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85;p1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Flutter is Declarative</a:t>
            </a:r>
          </a:p>
        </p:txBody>
      </p:sp>
      <p:sp>
        <p:nvSpPr>
          <p:cNvPr id="134" name="Google Shape;86;p16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2000"/>
              </a:lnSpc>
              <a:buSzTx/>
              <a:buNone/>
            </a:pPr>
            <a:r>
              <a:t>Flutter builds its user interface to reflect the current state of your app</a:t>
            </a: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  <a:r>
              <a:t>When the state of your app changes, you change the state, and that triggers a redraw of the user interface</a:t>
            </a:r>
          </a:p>
        </p:txBody>
      </p:sp>
      <p:pic>
        <p:nvPicPr>
          <p:cNvPr id="135" name="Google Shape;87;p16" descr="Google Shape;87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6700" y="1492250"/>
            <a:ext cx="7258051" cy="2628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92;p1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What is State?</a:t>
            </a:r>
          </a:p>
          <a:p>
            <a:pPr defTabSz="365760">
              <a:defRPr sz="1280"/>
            </a:pPr>
          </a:p>
        </p:txBody>
      </p:sp>
      <p:sp>
        <p:nvSpPr>
          <p:cNvPr id="138" name="Google Shape;93;p17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State</a:t>
            </a:r>
            <a:r>
              <a:rPr b="0"/>
              <a:t> is whatever data you need in order to rebuild your UI at any moment in time</a:t>
            </a:r>
            <a:endParaRPr b="0"/>
          </a:p>
          <a:p>
            <a:pPr marL="0" indent="0">
              <a:spcBef>
                <a:spcPts val="1200"/>
              </a:spcBef>
              <a:buSzTx/>
              <a:buNone/>
            </a:pPr>
            <a:r>
              <a:t>Some of the states are handled by the Flutter framework and some of them are managed by you, the programmer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The state that you manage yourself can be separated into two conceptual types</a:t>
            </a:r>
          </a:p>
          <a:p>
            <a:pPr marL="0" indent="457200">
              <a:spcBef>
                <a:spcPts val="1200"/>
              </a:spcBef>
              <a:buSzTx/>
              <a:buNone/>
              <a:defRPr b="1"/>
            </a:pPr>
            <a:r>
              <a:t>Ephemeral State</a:t>
            </a:r>
            <a:r>
              <a:rPr b="0"/>
              <a:t> and</a:t>
            </a:r>
            <a:r>
              <a:t> App State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98;p1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Ephemeral State</a:t>
            </a:r>
          </a:p>
        </p:txBody>
      </p:sp>
      <p:sp>
        <p:nvSpPr>
          <p:cNvPr id="141" name="Google Shape;99;p18"/>
          <p:cNvSpPr txBox="1"/>
          <p:nvPr>
            <p:ph type="body" idx="1"/>
          </p:nvPr>
        </p:nvSpPr>
        <p:spPr>
          <a:xfrm>
            <a:off x="311699" y="12584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buSzTx/>
              <a:buNone/>
              <a:defRPr b="1">
                <a:solidFill>
                  <a:schemeClr val="accent5"/>
                </a:solidFill>
              </a:defRPr>
            </a:pPr>
            <a:r>
              <a:t>Ephemeral State</a:t>
            </a:r>
            <a:r>
              <a:rPr b="0">
                <a:solidFill>
                  <a:srgbClr val="695D46"/>
                </a:solidFill>
              </a:rPr>
              <a:t> (sometimes called </a:t>
            </a:r>
            <a:r>
              <a:rPr>
                <a:solidFill>
                  <a:srgbClr val="695D46"/>
                </a:solidFill>
              </a:rPr>
              <a:t>UI state </a:t>
            </a:r>
            <a:r>
              <a:rPr b="0">
                <a:solidFill>
                  <a:srgbClr val="695D46"/>
                </a:solidFill>
              </a:rPr>
              <a:t>or </a:t>
            </a:r>
            <a:r>
              <a:rPr>
                <a:solidFill>
                  <a:srgbClr val="695D46"/>
                </a:solidFill>
              </a:rPr>
              <a:t>local state</a:t>
            </a:r>
            <a:r>
              <a:rPr b="0">
                <a:solidFill>
                  <a:srgbClr val="695D46"/>
                </a:solidFill>
              </a:rPr>
              <a:t>) is the state you can contain in a single widget</a:t>
            </a:r>
            <a:endParaRPr b="0">
              <a:solidFill>
                <a:srgbClr val="695D46"/>
              </a:solidFill>
            </a:endParaRP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Below are a few examples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	current page in a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PageView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current progress of a complex animation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current selected tab in a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BottomNavigationBar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Ephemeral state can be implemented using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t> and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setState()</a:t>
            </a:r>
            <a:r>
              <a:t>, and is often local to a single widget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04;p1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Ephemeral State</a:t>
            </a:r>
          </a:p>
        </p:txBody>
      </p:sp>
      <p:sp>
        <p:nvSpPr>
          <p:cNvPr id="144" name="Google Shape;105;p19"/>
          <p:cNvSpPr txBox="1"/>
          <p:nvPr>
            <p:ph type="body" idx="1"/>
          </p:nvPr>
        </p:nvSpPr>
        <p:spPr>
          <a:xfrm>
            <a:off x="311699" y="12584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The example code shown in the next slide demonstrates how the currently selected item in a bottom navigation bar is held in the</a:t>
            </a:r>
            <a:r>
              <a:rPr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_index</a:t>
            </a:r>
            <a:r>
              <a:rPr b="1"/>
              <a:t> </a:t>
            </a:r>
            <a:r>
              <a:t>field of the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_MyHomepageState</a:t>
            </a:r>
            <a:r>
              <a:t> class 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No other part of the app needs to access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_index</a:t>
            </a:r>
            <a:endParaRPr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The variable only changes inside the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MyHomepage</a:t>
            </a:r>
            <a:r>
              <a:t> widget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Here, using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setState() </a:t>
            </a:r>
            <a:r>
              <a:t>and a field inside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StatefulWidget</a:t>
            </a:r>
            <a:r>
              <a:t>’s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t> class is completely natural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10;p20"/>
          <p:cNvSpPr txBox="1"/>
          <p:nvPr>
            <p:ph type="body" idx="1"/>
          </p:nvPr>
        </p:nvSpPr>
        <p:spPr>
          <a:xfrm>
            <a:off x="311699" y="450349"/>
            <a:ext cx="8520602" cy="4118702"/>
          </a:xfrm>
          <a:prstGeom prst="rect">
            <a:avLst/>
          </a:prstGeom>
        </p:spPr>
        <p:txBody>
          <a:bodyPr/>
          <a:lstStyle/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1FBAA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222222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MyHomepage</a:t>
            </a:r>
            <a:r>
              <a:rPr>
                <a:solidFill>
                  <a:srgbClr val="222222"/>
                </a:solidFill>
              </a:rPr>
              <a:t> </a:t>
            </a:r>
            <a:r>
              <a:t>extends</a:t>
            </a:r>
            <a:r>
              <a:rPr>
                <a:solidFill>
                  <a:srgbClr val="222222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StatefulWidget</a:t>
            </a:r>
            <a:r>
              <a:rPr>
                <a:solidFill>
                  <a:srgbClr val="222222"/>
                </a:solidFill>
              </a:rPr>
              <a:t> {</a:t>
            </a:r>
            <a:endParaRPr>
              <a:solidFill>
                <a:srgbClr val="222222"/>
              </a:solidFill>
            </a:endParaRP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@override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_MyHomepageState createState() =&gt; _MyHomepageState();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619"/>
            </a:pPr>
            <a:endParaRPr sz="126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1FBAA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222222"/>
                </a:solidFill>
              </a:rPr>
              <a:t> _MyHomepageState </a:t>
            </a:r>
            <a:r>
              <a:t>extends</a:t>
            </a:r>
            <a:r>
              <a:rPr>
                <a:solidFill>
                  <a:srgbClr val="222222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State</a:t>
            </a:r>
            <a:r>
              <a:rPr>
                <a:solidFill>
                  <a:srgbClr val="222222"/>
                </a:solidFill>
              </a:rPr>
              <a:t>&lt;</a:t>
            </a:r>
            <a:r>
              <a:rPr>
                <a:solidFill>
                  <a:srgbClr val="660066"/>
                </a:solidFill>
              </a:rPr>
              <a:t>MyHomepage</a:t>
            </a:r>
            <a:r>
              <a:rPr>
                <a:solidFill>
                  <a:srgbClr val="222222"/>
                </a:solidFill>
              </a:rPr>
              <a:t>&gt; {</a:t>
            </a:r>
            <a:endParaRPr>
              <a:solidFill>
                <a:srgbClr val="222222"/>
              </a:solidFill>
            </a:endParaRP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660066"/>
                </a:solidFill>
              </a:rPr>
              <a:t>int</a:t>
            </a:r>
            <a:r>
              <a:t> _index = </a:t>
            </a:r>
            <a:r>
              <a:rPr>
                <a:solidFill>
                  <a:srgbClr val="006666"/>
                </a:solidFill>
              </a:rPr>
              <a:t>0</a:t>
            </a:r>
            <a:r>
              <a:t>;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619"/>
            </a:pPr>
            <a:endParaRPr sz="126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@override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660066"/>
                </a:solidFill>
              </a:rPr>
              <a:t>Widget</a:t>
            </a:r>
            <a:r>
              <a:t> build(</a:t>
            </a:r>
            <a:r>
              <a:rPr>
                <a:solidFill>
                  <a:srgbClr val="660066"/>
                </a:solidFill>
              </a:rPr>
              <a:t>BuildContext</a:t>
            </a:r>
            <a:r>
              <a:t> context) {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return</a:t>
            </a:r>
            <a:r>
              <a:t> </a:t>
            </a:r>
            <a:r>
              <a:rPr>
                <a:solidFill>
                  <a:srgbClr val="660066"/>
                </a:solidFill>
              </a:rPr>
              <a:t>BottomNavigationBar</a:t>
            </a:r>
            <a:r>
              <a:t>(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currentIndex: _index,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onTap: (newIndex) {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setState(() {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_index = newIndex;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});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},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</a:t>
            </a:r>
            <a:r>
              <a:rPr>
                <a:solidFill>
                  <a:srgbClr val="999999"/>
                </a:solidFill>
              </a:rPr>
              <a:t>// ... items ...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);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 marL="0" indent="0" defTabSz="822959">
              <a:lnSpc>
                <a:spcPct val="100000"/>
              </a:lnSpc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pic>
        <p:nvPicPr>
          <p:cNvPr id="147" name="Google Shape;111;p20" descr="Google Shape;111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23974" y="1443873"/>
            <a:ext cx="2740851" cy="35917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16;p2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App State</a:t>
            </a:r>
          </a:p>
          <a:p>
            <a:pPr defTabSz="365760">
              <a:defRPr sz="1280"/>
            </a:pPr>
          </a:p>
        </p:txBody>
      </p:sp>
      <p:sp>
        <p:nvSpPr>
          <p:cNvPr id="150" name="Google Shape;117;p2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Application State </a:t>
            </a:r>
            <a:r>
              <a:rPr b="0"/>
              <a:t>is a state that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is not ephemeral,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you want to share across many parts of your app, and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you want to keep between user sessions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sometimes also called shared state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22;p2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Ephemeral Vs App State</a:t>
            </a:r>
          </a:p>
        </p:txBody>
      </p:sp>
      <p:sp>
        <p:nvSpPr>
          <p:cNvPr id="153" name="Google Shape;123;p2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154" name="Google Shape;124;p22" descr="Google Shape;124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0749" y="859713"/>
            <a:ext cx="6762751" cy="43719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29;p23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 defTabSz="457200">
              <a:defRPr sz="1600"/>
            </a:lvl1pPr>
          </a:lstStyle>
          <a:p>
            <a:pPr/>
            <a:r>
              <a:t>App State Example</a:t>
            </a:r>
          </a:p>
        </p:txBody>
      </p:sp>
      <p:sp>
        <p:nvSpPr>
          <p:cNvPr id="157" name="Google Shape;130;p23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Consider a simple part of shopping app shown in the next screen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The app has two separate screens: a </a:t>
            </a:r>
            <a:r>
              <a:rPr b="1"/>
              <a:t>catalog</a:t>
            </a:r>
            <a:r>
              <a:t>, and a </a:t>
            </a:r>
            <a:r>
              <a:rPr b="1"/>
              <a:t>cart</a:t>
            </a:r>
            <a:r>
              <a:t> (represented by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MyCatalog</a:t>
            </a:r>
            <a:r>
              <a:t>, and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MyCart</a:t>
            </a:r>
            <a:r>
              <a:t> widgets, respectively)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The </a:t>
            </a:r>
            <a:r>
              <a:rPr b="1"/>
              <a:t>catalog</a:t>
            </a:r>
            <a:r>
              <a:t> screen includes a custom app bar  (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MyAppBar</a:t>
            </a:r>
            <a:r>
              <a:t>) and a scrolling view of many list items (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MyListItems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35;p24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457200">
              <a:spcBef>
                <a:spcPts val="1200"/>
              </a:spcBef>
              <a:buSzTx/>
              <a:buNone/>
            </a:pPr>
          </a:p>
        </p:txBody>
      </p:sp>
      <p:pic>
        <p:nvPicPr>
          <p:cNvPr id="160" name="Google Shape;136;p24" descr="Google Shape;136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6299" y="421200"/>
            <a:ext cx="2133601" cy="4495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Google Shape;137;p24" descr="Google Shape;137;p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80562" y="445013"/>
            <a:ext cx="2143126" cy="444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Google Shape;138;p24" descr="Google Shape;138;p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03449" y="373563"/>
            <a:ext cx="2228851" cy="45910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43;p25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 defTabSz="457200">
              <a:defRPr sz="1600"/>
            </a:lvl1pPr>
          </a:lstStyle>
          <a:p>
            <a:pPr/>
            <a:r>
              <a:t>App State Example</a:t>
            </a:r>
          </a:p>
        </p:txBody>
      </p:sp>
      <p:sp>
        <p:nvSpPr>
          <p:cNvPr id="165" name="Google Shape;144;p25"/>
          <p:cNvSpPr txBox="1"/>
          <p:nvPr>
            <p:ph type="body" sz="half" idx="1"/>
          </p:nvPr>
        </p:nvSpPr>
        <p:spPr>
          <a:xfrm>
            <a:off x="311699" y="1266325"/>
            <a:ext cx="42972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Here’s part of the shopping app visualized as a </a:t>
            </a:r>
            <a:r>
              <a:rPr b="1"/>
              <a:t>widget tree</a:t>
            </a:r>
            <a:endParaRPr b="1"/>
          </a:p>
          <a:p>
            <a:pPr marL="0" indent="0">
              <a:spcBef>
                <a:spcPts val="1200"/>
              </a:spcBef>
              <a:buSzTx/>
              <a:buNone/>
            </a:pPr>
            <a:r>
              <a:t>We have at least 5 subclasses of Widget</a:t>
            </a:r>
          </a:p>
        </p:txBody>
      </p:sp>
      <p:pic>
        <p:nvPicPr>
          <p:cNvPr id="166" name="Google Shape;145;p25" descr="Google Shape;145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46084" y="0"/>
            <a:ext cx="5193682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50;p2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 defTabSz="457200">
              <a:defRPr sz="1600"/>
            </a:lvl1pPr>
          </a:lstStyle>
          <a:p>
            <a:pPr/>
            <a:r>
              <a:t>App State Example</a:t>
            </a:r>
          </a:p>
        </p:txBody>
      </p:sp>
      <p:sp>
        <p:nvSpPr>
          <p:cNvPr id="169" name="Google Shape;151;p26"/>
          <p:cNvSpPr txBox="1"/>
          <p:nvPr>
            <p:ph type="body" sz="half" idx="1"/>
          </p:nvPr>
        </p:nvSpPr>
        <p:spPr>
          <a:xfrm>
            <a:off x="311699" y="1266325"/>
            <a:ext cx="42972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Many of them need access to the cart state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Each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MyListItem</a:t>
            </a:r>
            <a:r>
              <a:t> needs to be able to add itself to the </a:t>
            </a:r>
            <a:r>
              <a:rPr b="1"/>
              <a:t>cart</a:t>
            </a:r>
            <a:endParaRPr b="1"/>
          </a:p>
          <a:p>
            <a:pPr marL="0" indent="457200">
              <a:spcBef>
                <a:spcPts val="1200"/>
              </a:spcBef>
              <a:buSzTx/>
              <a:buNone/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MyCart</a:t>
            </a:r>
            <a:r>
              <a:rPr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needs to display items in the cart and total price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1"/>
                </a:solidFill>
              </a:defRPr>
            </a:pPr>
            <a:r>
              <a:t>Where should we put the current state of the cart?</a:t>
            </a:r>
          </a:p>
        </p:txBody>
      </p:sp>
      <p:pic>
        <p:nvPicPr>
          <p:cNvPr id="170" name="Google Shape;152;p26" descr="Google Shape;152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46084" y="0"/>
            <a:ext cx="5193682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57;p2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Lifting state up</a:t>
            </a:r>
          </a:p>
          <a:p>
            <a:pPr defTabSz="365760">
              <a:defRPr sz="1280"/>
            </a:pPr>
          </a:p>
        </p:txBody>
      </p:sp>
      <p:sp>
        <p:nvSpPr>
          <p:cNvPr id="173" name="Google Shape;158;p27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In Flutter, it makes sense to keep the state above the widgets that use it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In Flutter, you construct a new widget every time its contents change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You normally use a constructor to do it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Because you can only construct new widgets in the build methods of their parents, if you want to change contents of a widget, </a:t>
            </a:r>
            <a:r>
              <a:rPr b="1"/>
              <a:t>the content needs to live in parent widget or above in the widget tree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63;p2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Lifting state up</a:t>
            </a:r>
          </a:p>
          <a:p>
            <a:pPr defTabSz="365760">
              <a:defRPr sz="1280"/>
            </a:pPr>
          </a:p>
        </p:txBody>
      </p:sp>
      <p:sp>
        <p:nvSpPr>
          <p:cNvPr id="176" name="Google Shape;164;p28"/>
          <p:cNvSpPr txBox="1"/>
          <p:nvPr>
            <p:ph type="body" sz="half" idx="1"/>
          </p:nvPr>
        </p:nvSpPr>
        <p:spPr>
          <a:xfrm>
            <a:off x="311700" y="1266325"/>
            <a:ext cx="5125500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In our example, contents needs to live in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MyApp</a:t>
            </a:r>
            <a:endParaRPr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Whenever it changes, it rebuilds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MyCart</a:t>
            </a:r>
            <a:r>
              <a:t> from above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This is what we mean when we say that widgets are </a:t>
            </a:r>
            <a:r>
              <a:rPr b="1"/>
              <a:t>immutable</a:t>
            </a:r>
            <a:endParaRPr b="1"/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They don’t change—they get replaced</a:t>
            </a:r>
          </a:p>
        </p:txBody>
      </p:sp>
      <p:pic>
        <p:nvPicPr>
          <p:cNvPr id="177" name="Google Shape;165;p28" descr="Google Shape;165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96400" y="242974"/>
            <a:ext cx="4787751" cy="47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0;p2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Accessing the state</a:t>
            </a:r>
          </a:p>
          <a:p>
            <a:pPr defTabSz="365760">
              <a:defRPr sz="1280"/>
            </a:pPr>
          </a:p>
        </p:txBody>
      </p:sp>
      <p:sp>
        <p:nvSpPr>
          <p:cNvPr id="180" name="Google Shape;171;p29"/>
          <p:cNvSpPr txBox="1"/>
          <p:nvPr>
            <p:ph type="body" sz="half" idx="1"/>
          </p:nvPr>
        </p:nvSpPr>
        <p:spPr>
          <a:xfrm>
            <a:off x="311699" y="1266325"/>
            <a:ext cx="5238601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Flutter has mechanisms for widgets to provide data and services to their descendants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008F8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InheritedWidget</a:t>
            </a:r>
            <a:r>
              <a:rPr b="0">
                <a:solidFill>
                  <a:srgbClr val="4A4A4A"/>
                </a:solidFill>
              </a:rPr>
              <a:t> 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is an example of widget that can provide data or service to their descendants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however it’s low-level implementation</a:t>
            </a:r>
          </a:p>
        </p:txBody>
      </p:sp>
      <p:pic>
        <p:nvPicPr>
          <p:cNvPr id="181" name="Google Shape;172;p29" descr="Google Shape;172;p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52449" y="250499"/>
            <a:ext cx="4787751" cy="47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77;p30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Inherited Widgets</a:t>
            </a:r>
          </a:p>
        </p:txBody>
      </p:sp>
      <p:sp>
        <p:nvSpPr>
          <p:cNvPr id="184" name="Google Shape;178;p30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Inherited Widget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s allow the propagation of data within a widget tree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A given </a:t>
            </a:r>
            <a:r>
              <a: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Inherited Widget</a:t>
            </a:r>
            <a:r>
              <a:t> can expose any kind of data to all its descendants in the widget tree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All descendants can then access that data through their</a:t>
            </a:r>
            <a:r>
              <a: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 Build Context</a:t>
            </a:r>
            <a:endParaRPr b="1">
              <a:solidFill>
                <a:srgbClr val="00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A Build Context is an object passed into every build method of a widget that contains a reference to all ancestors of that widget in the widget tree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3;p31" descr="Google Shape;183;p3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91235"/>
            <a:ext cx="9144000" cy="4865831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Google Shape;184;p3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Inherited Widgets</a:t>
            </a:r>
          </a:p>
        </p:txBody>
      </p:sp>
      <p:sp>
        <p:nvSpPr>
          <p:cNvPr id="188" name="Google Shape;185;p3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State Management Solutions</a:t>
            </a:r>
          </a:p>
        </p:txBody>
      </p:sp>
      <p:sp>
        <p:nvSpPr>
          <p:cNvPr id="191" name="Google Shape;191;p3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Provider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A package that provides an improved interface for Flutter’s builtin Inherited Widgets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setState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The low-level approach to use for widget-specific, ephemeral state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InheritedWidget</a:t>
            </a:r>
            <a:endParaRPr>
              <a:solidFill>
                <a:srgbClr val="212529"/>
              </a:solidFill>
            </a:endParaRP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The low-level approach used to communicate between ancestors and children in the widget tree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215;p3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State Management Solutions</a:t>
            </a:r>
          </a:p>
        </p:txBody>
      </p:sp>
      <p:sp>
        <p:nvSpPr>
          <p:cNvPr id="194" name="Google Shape;216;p36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Riverpod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An approach similar to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t> that is compile-safe and testable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It doesn’t have a dependency on the Flutter SDK</a:t>
            </a:r>
          </a:p>
          <a:p>
            <a:pPr marL="0" indent="0">
              <a:lnSpc>
                <a:spcPct val="92000"/>
              </a:lnSpc>
              <a:buSzTx/>
              <a:buNone/>
              <a:defRPr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GetIt</a:t>
            </a:r>
          </a:p>
          <a:p>
            <a:pPr marL="0" indent="457200">
              <a:lnSpc>
                <a:spcPct val="92000"/>
              </a:lnSpc>
              <a:spcBef>
                <a:spcPts val="1200"/>
              </a:spcBef>
              <a:buSzTx/>
              <a:buNone/>
            </a:pPr>
            <a:r>
              <a:t>A service locator based state management approach that doesn’t need a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BuildContext</a:t>
            </a: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  <a:defRPr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GetX</a:t>
            </a: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</a:pPr>
            <a:r>
              <a:t>	A simplified reactive state management solution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349;p5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Bloc </a:t>
            </a:r>
          </a:p>
        </p:txBody>
      </p:sp>
      <p:sp>
        <p:nvSpPr>
          <p:cNvPr id="197" name="Google Shape;350;p57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A predictable state management library for Dart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Simple &amp; Lightweight Highly Testable For Dart, </a:t>
            </a:r>
            <a:r>
              <a:rPr b="1"/>
              <a:t>Flutter</a:t>
            </a:r>
            <a:r>
              <a:t>, and AngularDart</a:t>
            </a:r>
          </a:p>
        </p:txBody>
      </p:sp>
      <p:sp>
        <p:nvSpPr>
          <p:cNvPr id="198" name="Google Shape;351;p57"/>
          <p:cNvSpPr txBox="1"/>
          <p:nvPr/>
        </p:nvSpPr>
        <p:spPr>
          <a:xfrm>
            <a:off x="311700" y="4625549"/>
            <a:ext cx="3963000" cy="43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1800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https://bloclibrary.dev/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356;p5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Bloc Overview</a:t>
            </a:r>
          </a:p>
          <a:p>
            <a:pPr defTabSz="365760">
              <a:defRPr sz="1280"/>
            </a:pPr>
          </a:p>
        </p:txBody>
      </p:sp>
      <p:sp>
        <p:nvSpPr>
          <p:cNvPr id="201" name="Google Shape;357;p58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Overall, Bloc attempts to make state changes predictable by regulating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when a state change can occur and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enforcing a single way to change state throughout an entire application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362;p5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Installing Bloc package</a:t>
            </a:r>
          </a:p>
          <a:p>
            <a:pPr defTabSz="365760">
              <a:defRPr sz="1280"/>
            </a:pPr>
          </a:p>
        </p:txBody>
      </p:sp>
      <p:sp>
        <p:nvSpPr>
          <p:cNvPr id="204" name="Google Shape;363;p59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buSzTx/>
              <a:buNone/>
              <a:defRPr b="1"/>
            </a:pPr>
            <a:r>
              <a:t>Installation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Add the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flutter_bloc</a:t>
            </a:r>
            <a:r>
              <a:t> package to your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pubspec.yaml </a:t>
            </a:r>
            <a:r>
              <a:t>as a dependency</a:t>
            </a:r>
            <a:endParaRPr sz="100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137160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22A2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dependencies</a:t>
            </a:r>
            <a:r>
              <a:rPr>
                <a:solidFill>
                  <a:srgbClr val="525252"/>
                </a:solidFill>
              </a:rPr>
              <a:t>:</a:t>
            </a:r>
            <a:endParaRPr>
              <a:solidFill>
                <a:srgbClr val="525252"/>
              </a:solidFill>
            </a:endParaRPr>
          </a:p>
          <a:p>
            <a:pPr marL="0" indent="1371600">
              <a:lnSpc>
                <a:spcPct val="103500"/>
              </a:lnSpc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660066"/>
                </a:solidFill>
              </a:rPr>
              <a:t>flutter_bloc: ^8.0.1</a:t>
            </a:r>
            <a:endParaRPr>
              <a:solidFill>
                <a:srgbClr val="660066"/>
              </a:solidFill>
            </a:endParaRPr>
          </a:p>
          <a:p>
            <a:pPr marL="0" indent="0">
              <a:lnSpc>
                <a:spcPct val="103500"/>
              </a:lnSpc>
              <a:spcBef>
                <a:spcPts val="1000"/>
              </a:spcBef>
              <a:buSzTx/>
              <a:buNone/>
              <a:defRPr b="1"/>
            </a:pPr>
            <a:r>
              <a:t>	</a:t>
            </a:r>
            <a:r>
              <a:rPr b="0"/>
              <a:t>Then run</a:t>
            </a:r>
            <a:r>
              <a:t>  </a:t>
            </a:r>
            <a:r>
              <a:rPr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flutter pub get </a:t>
            </a:r>
            <a:r>
              <a:rPr b="0"/>
              <a:t>to download the package</a:t>
            </a:r>
            <a:endParaRPr b="0"/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Or</a:t>
            </a:r>
            <a:r>
              <a:rPr b="1"/>
              <a:t> use the following command</a:t>
            </a:r>
            <a:r>
              <a:t> to do both at once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			flutter pub add </a:t>
            </a:r>
            <a:r>
              <a:rPr>
                <a:solidFill>
                  <a:srgbClr val="660066"/>
                </a:solidFill>
              </a:rPr>
              <a:t>flutter_bloc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368;p60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Importing Bloc package</a:t>
            </a:r>
          </a:p>
          <a:p>
            <a:pPr defTabSz="365760">
              <a:defRPr sz="1280"/>
            </a:pPr>
          </a:p>
        </p:txBody>
      </p:sp>
      <p:sp>
        <p:nvSpPr>
          <p:cNvPr id="207" name="Google Shape;369;p60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000"/>
              </a:spcBef>
              <a:buSzTx/>
              <a:buNone/>
              <a:defRPr b="1"/>
            </a:pPr>
            <a:r>
              <a:t>Importing</a:t>
            </a:r>
          </a:p>
          <a:p>
            <a:pPr marL="0" indent="0">
              <a:spcBef>
                <a:spcPts val="1200"/>
              </a:spcBef>
              <a:buSzTx/>
              <a:buNone/>
              <a:defRPr b="1"/>
            </a:pPr>
            <a:r>
              <a:t>	</a:t>
            </a:r>
            <a:r>
              <a:rPr>
                <a:solidFill>
                  <a:srgbClr val="E9690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'package:flutter_bloc/flutter_bloc.dart'</a:t>
            </a:r>
            <a:r>
              <a:rPr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374;p6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Why Bloc?</a:t>
            </a:r>
          </a:p>
        </p:txBody>
      </p:sp>
      <p:sp>
        <p:nvSpPr>
          <p:cNvPr id="210" name="Google Shape;375;p6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Bloc makes it easy </a:t>
            </a:r>
            <a:r>
              <a:rPr b="1">
                <a:solidFill>
                  <a:srgbClr val="006666"/>
                </a:solidFill>
              </a:rPr>
              <a:t>to separate presentation from business logic</a:t>
            </a:r>
            <a:r>
              <a:t>, making your code </a:t>
            </a:r>
            <a:r>
              <a:rPr b="1"/>
              <a:t>fast</a:t>
            </a:r>
            <a:r>
              <a:t>, </a:t>
            </a:r>
            <a:r>
              <a:rPr b="1"/>
              <a:t>easy to test</a:t>
            </a:r>
            <a:r>
              <a:t>, and </a:t>
            </a:r>
            <a:r>
              <a:rPr b="1"/>
              <a:t>reusable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380;p6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Bloc</a:t>
            </a:r>
          </a:p>
        </p:txBody>
      </p:sp>
      <p:sp>
        <p:nvSpPr>
          <p:cNvPr id="213" name="Google Shape;381;p6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None/>
            </a:lvl1pPr>
          </a:lstStyle>
          <a:p>
            <a:pPr/>
            <a:r>
              <a:t>A Bloc generates streams of states corresponding to each event stream</a:t>
            </a:r>
          </a:p>
        </p:txBody>
      </p:sp>
      <p:pic>
        <p:nvPicPr>
          <p:cNvPr id="214" name="Google Shape;382;p62" descr="Google Shape;382;p6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2400" y="1861049"/>
            <a:ext cx="6579200" cy="28729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387;p63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Steps To Use Bloc</a:t>
            </a:r>
          </a:p>
        </p:txBody>
      </p:sp>
      <p:sp>
        <p:nvSpPr>
          <p:cNvPr id="217" name="Google Shape;388;p63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Define Event type using dart class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Define State Class (optional)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Create </a:t>
            </a:r>
            <a:r>
              <a:rPr b="1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Bloc</a:t>
            </a:r>
            <a:r>
              <a:t> using Event and State types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Define event handlers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Provide </a:t>
            </a:r>
            <a:r>
              <a:rPr b="1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Bloc</a:t>
            </a:r>
            <a:r>
              <a:t> on widget tree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Consume </a:t>
            </a:r>
            <a:r>
              <a:rPr b="1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Bloc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393;p64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Define Event Type</a:t>
            </a:r>
          </a:p>
        </p:txBody>
      </p:sp>
      <p:sp>
        <p:nvSpPr>
          <p:cNvPr id="220" name="Google Shape;394;p64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Google Shape;395;p64"/>
          <p:cNvSpPr txBox="1"/>
          <p:nvPr/>
        </p:nvSpPr>
        <p:spPr>
          <a:xfrm>
            <a:off x="433649" y="1457525"/>
            <a:ext cx="8352902" cy="1815705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135714"/>
              </a:lnSpc>
              <a:defRPr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abstract</a:t>
            </a:r>
            <a:r>
              <a:rPr>
                <a:solidFill>
                  <a:srgbClr val="F8F8F2"/>
                </a:solidFill>
              </a:rPr>
              <a:t> </a:t>
            </a:r>
            <a:r>
              <a:t>class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CounterEvent</a:t>
            </a:r>
            <a:r>
              <a:rPr>
                <a:solidFill>
                  <a:srgbClr val="F8F8F2"/>
                </a:solidFill>
              </a:rPr>
              <a:t> {}</a:t>
            </a:r>
            <a:endParaRPr>
              <a:solidFill>
                <a:srgbClr val="F8F8F2"/>
              </a:solidFill>
            </a:endParaRPr>
          </a:p>
          <a:p>
            <a:pPr>
              <a:lnSpc>
                <a:spcPct val="135714"/>
              </a:lnSpc>
              <a:defRPr>
                <a:solidFill>
                  <a:srgbClr val="000000"/>
                </a:solidFill>
              </a:defRPr>
            </a:pP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35714"/>
              </a:lnSpc>
              <a:defRPr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CounterIncrementPressed</a:t>
            </a:r>
            <a:r>
              <a:rPr>
                <a:solidFill>
                  <a:srgbClr val="F8F8F2"/>
                </a:solidFill>
              </a:rPr>
              <a:t> </a:t>
            </a:r>
            <a:r>
              <a:t>extends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CounterEvent</a:t>
            </a:r>
            <a:r>
              <a:rPr>
                <a:solidFill>
                  <a:srgbClr val="F8F8F2"/>
                </a:solidFill>
              </a:rPr>
              <a:t> {}</a:t>
            </a:r>
            <a:endParaRPr>
              <a:solidFill>
                <a:srgbClr val="F8F8F2"/>
              </a:solidFill>
            </a:endParaRPr>
          </a:p>
          <a:p>
            <a:pPr>
              <a:lnSpc>
                <a:spcPct val="135714"/>
              </a:lnSpc>
              <a:defRPr>
                <a:solidFill>
                  <a:srgbClr val="000000"/>
                </a:solidFill>
              </a:defRPr>
            </a:pPr>
            <a:endParaRPr sz="18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lnSpc>
                <a:spcPct val="135714"/>
              </a:lnSpc>
              <a:defRPr sz="18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CounterDecrementPressed</a:t>
            </a:r>
            <a:r>
              <a:rPr>
                <a:solidFill>
                  <a:srgbClr val="F8F8F2"/>
                </a:solidFill>
              </a:rPr>
              <a:t> </a:t>
            </a:r>
            <a:r>
              <a:t>extends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CounterEvent</a:t>
            </a:r>
            <a:r>
              <a:rPr>
                <a:solidFill>
                  <a:srgbClr val="F8F8F2"/>
                </a:solidFill>
              </a:rPr>
              <a:t> {}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400;p65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Create Bloc</a:t>
            </a:r>
          </a:p>
        </p:txBody>
      </p:sp>
      <p:sp>
        <p:nvSpPr>
          <p:cNvPr id="224" name="Google Shape;401;p65"/>
          <p:cNvSpPr txBox="1"/>
          <p:nvPr>
            <p:ph type="body" idx="1"/>
          </p:nvPr>
        </p:nvSpPr>
        <p:spPr>
          <a:xfrm>
            <a:off x="829800" y="1303649"/>
            <a:ext cx="7484400" cy="2536201"/>
          </a:xfrm>
          <a:prstGeom prst="rect">
            <a:avLst/>
          </a:prstGeom>
          <a:solidFill>
            <a:srgbClr val="222222"/>
          </a:solidFill>
        </p:spPr>
        <p:txBody>
          <a:bodyPr/>
          <a:lstStyle/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CounterBloc</a:t>
            </a:r>
            <a:r>
              <a:rPr>
                <a:solidFill>
                  <a:srgbClr val="F8F8F2"/>
                </a:solidFill>
              </a:rPr>
              <a:t> </a:t>
            </a:r>
            <a:r>
              <a:t>extends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Bloc</a:t>
            </a:r>
            <a:r>
              <a:rPr>
                <a:solidFill>
                  <a:srgbClr val="F8F8F2"/>
                </a:solidFill>
              </a:rPr>
              <a:t>&lt;</a:t>
            </a:r>
            <a:r>
              <a:rPr>
                <a:solidFill>
                  <a:srgbClr val="8BE9FD"/>
                </a:solidFill>
              </a:rPr>
              <a:t>CounterEvent</a:t>
            </a:r>
            <a:r>
              <a:rPr>
                <a:solidFill>
                  <a:srgbClr val="F8F8F2"/>
                </a:solidFill>
              </a:rPr>
              <a:t>, </a:t>
            </a:r>
            <a:r>
              <a:rPr>
                <a:solidFill>
                  <a:srgbClr val="8BE9FD"/>
                </a:solidFill>
              </a:rPr>
              <a:t>int</a:t>
            </a:r>
            <a:r>
              <a:rPr>
                <a:solidFill>
                  <a:srgbClr val="F8F8F2"/>
                </a:solidFill>
              </a:rPr>
              <a:t>&gt; {</a:t>
            </a:r>
            <a:endParaRPr>
              <a:solidFill>
                <a:srgbClr val="F8F8F2"/>
              </a:solidFill>
            </a:endParaRP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8BE9FD"/>
                </a:solidFill>
              </a:rPr>
              <a:t>CounterBloc</a:t>
            </a:r>
            <a:r>
              <a:t>() </a:t>
            </a:r>
            <a:r>
              <a:rPr>
                <a:solidFill>
                  <a:srgbClr val="FF79C6"/>
                </a:solidFill>
              </a:rPr>
              <a:t>:</a:t>
            </a:r>
            <a:r>
              <a:t> </a:t>
            </a:r>
            <a:r>
              <a:rPr i="1">
                <a:solidFill>
                  <a:srgbClr val="FF79C6"/>
                </a:solidFill>
              </a:rPr>
              <a:t>super</a:t>
            </a:r>
            <a:r>
              <a:t>(</a:t>
            </a:r>
            <a:r>
              <a:rPr>
                <a:solidFill>
                  <a:srgbClr val="BD93F9"/>
                </a:solidFill>
              </a:rPr>
              <a:t>0</a:t>
            </a:r>
            <a:r>
              <a:t>) {</a:t>
            </a:r>
          </a:p>
          <a:p>
            <a:pPr marL="0" indent="0">
              <a:lnSpc>
                <a:spcPct val="135714"/>
              </a:lnSpc>
              <a:buSzTx/>
              <a:buNone/>
            </a:pPr>
            <a:endParaRPr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define event handlers here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406;p6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Define Event handlers</a:t>
            </a:r>
          </a:p>
        </p:txBody>
      </p:sp>
      <p:sp>
        <p:nvSpPr>
          <p:cNvPr id="227" name="Google Shape;407;p66"/>
          <p:cNvSpPr txBox="1"/>
          <p:nvPr>
            <p:ph type="body" idx="1"/>
          </p:nvPr>
        </p:nvSpPr>
        <p:spPr>
          <a:xfrm>
            <a:off x="909449" y="1256699"/>
            <a:ext cx="7325102" cy="3756602"/>
          </a:xfrm>
          <a:prstGeom prst="rect">
            <a:avLst/>
          </a:prstGeom>
          <a:solidFill>
            <a:srgbClr val="222222"/>
          </a:solidFill>
        </p:spPr>
        <p:txBody>
          <a:bodyPr/>
          <a:lstStyle/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CounterBloc</a:t>
            </a:r>
            <a:r>
              <a:rPr>
                <a:solidFill>
                  <a:srgbClr val="F8F8F2"/>
                </a:solidFill>
              </a:rPr>
              <a:t> </a:t>
            </a:r>
            <a:r>
              <a:t>extends</a:t>
            </a:r>
            <a:r>
              <a:rPr>
                <a:solidFill>
                  <a:srgbClr val="F8F8F2"/>
                </a:solidFill>
              </a:rPr>
              <a:t> </a:t>
            </a:r>
            <a:r>
              <a:rPr>
                <a:solidFill>
                  <a:srgbClr val="8BE9FD"/>
                </a:solidFill>
              </a:rPr>
              <a:t>Bloc</a:t>
            </a:r>
            <a:r>
              <a:rPr>
                <a:solidFill>
                  <a:srgbClr val="F8F8F2"/>
                </a:solidFill>
              </a:rPr>
              <a:t>&lt;</a:t>
            </a:r>
            <a:r>
              <a:rPr>
                <a:solidFill>
                  <a:srgbClr val="8BE9FD"/>
                </a:solidFill>
              </a:rPr>
              <a:t>CounterEvent</a:t>
            </a:r>
            <a:r>
              <a:rPr>
                <a:solidFill>
                  <a:srgbClr val="F8F8F2"/>
                </a:solidFill>
              </a:rPr>
              <a:t>, </a:t>
            </a:r>
            <a:r>
              <a:rPr>
                <a:solidFill>
                  <a:srgbClr val="8BE9FD"/>
                </a:solidFill>
              </a:rPr>
              <a:t>int</a:t>
            </a:r>
            <a:r>
              <a:rPr>
                <a:solidFill>
                  <a:srgbClr val="F8F8F2"/>
                </a:solidFill>
              </a:rPr>
              <a:t>&gt; {</a:t>
            </a:r>
            <a:endParaRPr>
              <a:solidFill>
                <a:srgbClr val="F8F8F2"/>
              </a:solidFill>
            </a:endParaRP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8BE9FD"/>
                </a:solidFill>
              </a:rPr>
              <a:t>CounterBloc</a:t>
            </a:r>
            <a:r>
              <a:t>() </a:t>
            </a:r>
            <a:r>
              <a:rPr>
                <a:solidFill>
                  <a:srgbClr val="FF79C6"/>
                </a:solidFill>
              </a:rPr>
              <a:t>:</a:t>
            </a:r>
            <a:r>
              <a:t> </a:t>
            </a:r>
            <a:r>
              <a:rPr i="1">
                <a:solidFill>
                  <a:srgbClr val="FF79C6"/>
                </a:solidFill>
              </a:rPr>
              <a:t>super</a:t>
            </a:r>
            <a:r>
              <a:t>(</a:t>
            </a:r>
            <a:r>
              <a:rPr>
                <a:solidFill>
                  <a:srgbClr val="BD93F9"/>
                </a:solidFill>
              </a:rPr>
              <a:t>0</a:t>
            </a:r>
            <a:r>
              <a:t>) {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</a:t>
            </a:r>
            <a:r>
              <a:rPr>
                <a:solidFill>
                  <a:srgbClr val="50FA7B"/>
                </a:solidFill>
              </a:rPr>
              <a:t>on</a:t>
            </a:r>
            <a:r>
              <a:rPr>
                <a:solidFill>
                  <a:srgbClr val="FF79C6"/>
                </a:solidFill>
              </a:rPr>
              <a:t>&lt;</a:t>
            </a:r>
            <a:r>
              <a:rPr>
                <a:solidFill>
                  <a:srgbClr val="8BE9FD"/>
                </a:solidFill>
              </a:rPr>
              <a:t>CounterIncrementPressed</a:t>
            </a:r>
            <a:r>
              <a:rPr>
                <a:solidFill>
                  <a:srgbClr val="FF79C6"/>
                </a:solidFill>
              </a:rPr>
              <a:t>&gt;</a:t>
            </a:r>
            <a:r>
              <a:t>(</a:t>
            </a:r>
          </a:p>
          <a:p>
            <a:pPr marL="0" indent="91440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(</a:t>
            </a:r>
            <a:r>
              <a:rPr i="1">
                <a:solidFill>
                  <a:srgbClr val="FFB86C"/>
                </a:solidFill>
              </a:rPr>
              <a:t>event</a:t>
            </a:r>
            <a:r>
              <a:t>, </a:t>
            </a:r>
            <a:r>
              <a:rPr i="1">
                <a:solidFill>
                  <a:srgbClr val="FFB86C"/>
                </a:solidFill>
              </a:rPr>
              <a:t>emit</a:t>
            </a:r>
            <a:r>
              <a:t>) </a:t>
            </a:r>
            <a:r>
              <a:rPr>
                <a:solidFill>
                  <a:srgbClr val="FF79C6"/>
                </a:solidFill>
              </a:rPr>
              <a:t>=&gt;</a:t>
            </a:r>
            <a:r>
              <a:t> </a:t>
            </a:r>
            <a:r>
              <a:rPr i="1">
                <a:solidFill>
                  <a:srgbClr val="FFB86C"/>
                </a:solidFill>
              </a:rPr>
              <a:t>emit</a:t>
            </a:r>
            <a:r>
              <a:t>(state </a:t>
            </a:r>
            <a:r>
              <a:rPr>
                <a:solidFill>
                  <a:srgbClr val="FF79C6"/>
                </a:solidFill>
              </a:rPr>
              <a:t>+</a:t>
            </a:r>
            <a:r>
              <a:t> </a:t>
            </a:r>
            <a:r>
              <a:rPr>
                <a:solidFill>
                  <a:srgbClr val="BD93F9"/>
                </a:solidFill>
              </a:rPr>
              <a:t>1</a:t>
            </a:r>
            <a:r>
              <a:t>)</a:t>
            </a:r>
          </a:p>
          <a:p>
            <a:pPr marL="0" indent="45720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);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</a:t>
            </a:r>
            <a:r>
              <a:rPr>
                <a:solidFill>
                  <a:srgbClr val="50FA7B"/>
                </a:solidFill>
              </a:rPr>
              <a:t>on</a:t>
            </a:r>
            <a:r>
              <a:rPr>
                <a:solidFill>
                  <a:srgbClr val="FF79C6"/>
                </a:solidFill>
              </a:rPr>
              <a:t>&lt;</a:t>
            </a:r>
            <a:r>
              <a:rPr>
                <a:solidFill>
                  <a:srgbClr val="8BE9FD"/>
                </a:solidFill>
              </a:rPr>
              <a:t>CounterDecrementPressed</a:t>
            </a:r>
            <a:r>
              <a:rPr>
                <a:solidFill>
                  <a:srgbClr val="FF79C6"/>
                </a:solidFill>
              </a:rPr>
              <a:t>&gt;</a:t>
            </a:r>
            <a:r>
              <a:t>(</a:t>
            </a:r>
          </a:p>
          <a:p>
            <a:pPr marL="0" indent="91440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(</a:t>
            </a:r>
            <a:r>
              <a:rPr i="1">
                <a:solidFill>
                  <a:srgbClr val="FFB86C"/>
                </a:solidFill>
              </a:rPr>
              <a:t>event</a:t>
            </a:r>
            <a:r>
              <a:t>, </a:t>
            </a:r>
            <a:r>
              <a:rPr i="1">
                <a:solidFill>
                  <a:srgbClr val="FFB86C"/>
                </a:solidFill>
              </a:rPr>
              <a:t>emit</a:t>
            </a:r>
            <a:r>
              <a:t>) </a:t>
            </a:r>
            <a:r>
              <a:rPr>
                <a:solidFill>
                  <a:srgbClr val="FF79C6"/>
                </a:solidFill>
              </a:rPr>
              <a:t>=&gt;</a:t>
            </a:r>
            <a:r>
              <a:t> </a:t>
            </a:r>
            <a:r>
              <a:rPr i="1">
                <a:solidFill>
                  <a:srgbClr val="FFB86C"/>
                </a:solidFill>
              </a:rPr>
              <a:t>emit</a:t>
            </a:r>
            <a:r>
              <a:t>(state </a:t>
            </a:r>
            <a:r>
              <a:rPr>
                <a:solidFill>
                  <a:srgbClr val="FF79C6"/>
                </a:solidFill>
              </a:rPr>
              <a:t>-</a:t>
            </a:r>
            <a:r>
              <a:t> </a:t>
            </a:r>
            <a:r>
              <a:rPr>
                <a:solidFill>
                  <a:srgbClr val="BD93F9"/>
                </a:solidFill>
              </a:rPr>
              <a:t>1</a:t>
            </a:r>
            <a:r>
              <a:t>)</a:t>
            </a:r>
          </a:p>
          <a:p>
            <a:pPr marL="0" indent="45720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);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}</a:t>
            </a:r>
          </a:p>
          <a:p>
            <a:pPr marL="0" indent="0">
              <a:lnSpc>
                <a:spcPct val="135714"/>
              </a:lnSpc>
              <a:buSzTx/>
              <a:buNone/>
              <a:defRPr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412;p6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Core Concepts of Bloc in Flutter</a:t>
            </a:r>
          </a:p>
        </p:txBody>
      </p:sp>
      <p:sp>
        <p:nvSpPr>
          <p:cNvPr id="230" name="Google Shape;413;p67"/>
          <p:cNvSpPr txBox="1"/>
          <p:nvPr>
            <p:ph type="body" sz="half" idx="1"/>
          </p:nvPr>
        </p:nvSpPr>
        <p:spPr>
          <a:xfrm>
            <a:off x="311699" y="1266325"/>
            <a:ext cx="31251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Bloc Widgets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</a:t>
            </a:r>
            <a:r>
              <a: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BlocProvider</a:t>
            </a:r>
            <a:endParaRPr b="1">
              <a:solidFill>
                <a:srgbClr val="00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BlocBuilder</a:t>
            </a: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BlocListener</a:t>
            </a: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BlocConsumer</a:t>
            </a:r>
          </a:p>
          <a:p>
            <a:pPr marL="0" indent="457200">
              <a:spcBef>
                <a:spcPts val="1200"/>
              </a:spcBef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RepositoryProvider</a:t>
            </a:r>
          </a:p>
        </p:txBody>
      </p:sp>
      <p:sp>
        <p:nvSpPr>
          <p:cNvPr id="231" name="Google Shape;414;p67"/>
          <p:cNvSpPr txBox="1"/>
          <p:nvPr/>
        </p:nvSpPr>
        <p:spPr>
          <a:xfrm>
            <a:off x="4319749" y="1266325"/>
            <a:ext cx="3849901" cy="330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>
              <a:lnSpc>
                <a:spcPct val="115000"/>
              </a:lnSpc>
              <a:defRPr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>
              <a:lnSpc>
                <a:spcPct val="115000"/>
              </a:lnSpc>
              <a:spcBef>
                <a:spcPts val="1200"/>
              </a:spcBef>
              <a:defRPr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	</a:t>
            </a:r>
            <a:r>
              <a: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rPr>
              <a:t>MultiBlocProvider</a:t>
            </a:r>
            <a:endParaRPr b="1">
              <a:solidFill>
                <a:srgbClr val="00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>
              <a:lnSpc>
                <a:spcPct val="115000"/>
              </a:lnSpc>
              <a:spcBef>
                <a:spcPts val="1200"/>
              </a:spcBef>
              <a:defRPr b="1" sz="1800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</a:p>
          <a:p>
            <a:pPr indent="457200">
              <a:lnSpc>
                <a:spcPct val="115000"/>
              </a:lnSpc>
              <a:spcBef>
                <a:spcPts val="1200"/>
              </a:spcBef>
              <a:defRPr sz="18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MultiRepositoryProvider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419;p6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BlocProvider</a:t>
            </a:r>
          </a:p>
        </p:txBody>
      </p:sp>
      <p:sp>
        <p:nvSpPr>
          <p:cNvPr id="234" name="Google Shape;420;p68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0066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BlocProvider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 Flutter widget which provides a </a:t>
            </a:r>
            <a:r>
              <a:rPr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bloc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to its children</a:t>
            </a:r>
            <a:endParaRPr>
              <a:solidFill>
                <a:schemeClr val="accent5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It is used as a </a:t>
            </a:r>
            <a:r>
              <a:rPr b="1"/>
              <a:t>dependency injection (DI)</a:t>
            </a:r>
            <a:r>
              <a:t> widget so that a </a:t>
            </a:r>
            <a:r>
              <a:rPr b="1"/>
              <a:t>single instance</a:t>
            </a:r>
            <a:r>
              <a:t> of a bloc can be provided to multiple widgets within a subtree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In most cases,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BlocProvider</a:t>
            </a:r>
            <a:r>
              <a:t> should be used to create new blocs which will be made available to the rest of the subtree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In this case, since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BlocProvider</a:t>
            </a:r>
            <a:r>
              <a:t> is responsible for creating the bloc, it will automatically handle closing the bloc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425;p6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BlocProvider</a:t>
            </a:r>
          </a:p>
        </p:txBody>
      </p:sp>
      <p:sp>
        <p:nvSpPr>
          <p:cNvPr id="237" name="Google Shape;426;p69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E96900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BlocProvider</a:t>
            </a:r>
            <a:r>
              <a:rPr>
                <a:solidFill>
                  <a:srgbClr val="525252"/>
                </a:solidFill>
              </a:rPr>
              <a:t>(</a:t>
            </a:r>
            <a:endParaRPr>
              <a:solidFill>
                <a:srgbClr val="525252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create: (BuildContext context) =&gt; </a:t>
            </a:r>
            <a:r>
              <a:rPr>
                <a:solidFill>
                  <a:srgbClr val="E96900"/>
                </a:solidFill>
              </a:rPr>
              <a:t>BlocA</a:t>
            </a:r>
            <a:r>
              <a:t>(),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child: </a:t>
            </a:r>
            <a:r>
              <a:rPr>
                <a:solidFill>
                  <a:srgbClr val="E96900"/>
                </a:solidFill>
              </a:rPr>
              <a:t>ChildA</a:t>
            </a:r>
            <a:r>
              <a:t>(),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431;p70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BlocProvider</a:t>
            </a:r>
          </a:p>
        </p:txBody>
      </p:sp>
      <p:sp>
        <p:nvSpPr>
          <p:cNvPr id="240" name="Google Shape;432;p70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 defTabSz="886968">
              <a:buSzTx/>
              <a:buNone/>
              <a:defRPr sz="1746"/>
            </a:pPr>
            <a:r>
              <a:t>By default,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BlocProvider</a:t>
            </a:r>
            <a:r>
              <a:t> will create the bloc lazily, meaning </a:t>
            </a:r>
            <a:r>
              <a:rPr b="1"/>
              <a:t>create</a:t>
            </a:r>
            <a:r>
              <a:t> will get executed when the bloc is looked up via </a:t>
            </a:r>
            <a:r>
              <a: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BlocProvider.of&lt;T&gt;(context)</a:t>
            </a:r>
            <a:endParaRPr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 defTabSz="886968">
              <a:spcBef>
                <a:spcPts val="1100"/>
              </a:spcBef>
              <a:buSzTx/>
              <a:buNone/>
              <a:defRPr sz="1746"/>
            </a:pPr>
            <a:r>
              <a:t>To override this behavior and force create to be run immediately, lazy can be set to false</a:t>
            </a:r>
          </a:p>
          <a:p>
            <a:pPr marL="0" indent="0" defTabSz="886968">
              <a:spcBef>
                <a:spcPts val="1100"/>
              </a:spcBef>
              <a:buSzTx/>
              <a:buNone/>
              <a:defRPr sz="1746"/>
            </a:pPr>
            <a:r>
              <a:t>					</a:t>
            </a:r>
            <a:r>
              <a:rPr b="1">
                <a:solidFill>
                  <a:srgbClr val="E96900"/>
                </a:solidFill>
                <a:latin typeface="Roboto Mono"/>
                <a:ea typeface="Roboto Mono"/>
                <a:cs typeface="Roboto Mono"/>
                <a:sym typeface="Roboto Mono"/>
              </a:rPr>
              <a:t>BlocProvider</a:t>
            </a:r>
            <a:r>
              <a:rPr b="1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b="1">
              <a:solidFill>
                <a:srgbClr val="52525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2217420" defTabSz="886968">
              <a:buSzTx/>
              <a:buNone/>
              <a:defRPr b="1" sz="1746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lazy: </a:t>
            </a:r>
            <a:r>
              <a:rPr>
                <a:solidFill>
                  <a:srgbClr val="C76B29"/>
                </a:solidFill>
              </a:rPr>
              <a:t>false</a:t>
            </a:r>
            <a:r>
              <a:t>,</a:t>
            </a:r>
          </a:p>
          <a:p>
            <a:pPr marL="0" indent="2217420" defTabSz="886968">
              <a:buSzTx/>
              <a:buNone/>
              <a:defRPr b="1" sz="1746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create: (BuildContext context) =&gt; </a:t>
            </a:r>
            <a:r>
              <a:rPr>
                <a:solidFill>
                  <a:srgbClr val="E96900"/>
                </a:solidFill>
              </a:rPr>
              <a:t>BlocA</a:t>
            </a:r>
            <a:r>
              <a:t>(),</a:t>
            </a:r>
          </a:p>
          <a:p>
            <a:pPr marL="0" indent="2217420" defTabSz="886968">
              <a:buSzTx/>
              <a:buNone/>
              <a:defRPr b="1" sz="1746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child: </a:t>
            </a:r>
            <a:r>
              <a:rPr>
                <a:solidFill>
                  <a:srgbClr val="E96900"/>
                </a:solidFill>
              </a:rPr>
              <a:t>ChildA</a:t>
            </a:r>
            <a:r>
              <a:t>(),</a:t>
            </a:r>
          </a:p>
          <a:p>
            <a:pPr marL="0" indent="2217420" defTabSz="886968">
              <a:buSzTx/>
              <a:buNone/>
              <a:defRPr b="1" sz="1746">
                <a:solidFill>
                  <a:srgbClr val="52525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437;p7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BlocBuilder</a:t>
            </a:r>
          </a:p>
        </p:txBody>
      </p:sp>
      <p:sp>
        <p:nvSpPr>
          <p:cNvPr id="243" name="Google Shape;438;p7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 Flutter widget which requires a </a:t>
            </a:r>
            <a:r>
              <a:rPr>
                <a:solidFill>
                  <a:srgbClr val="695D46"/>
                </a:solidFill>
              </a:rPr>
              <a:t>Bloc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a </a:t>
            </a:r>
            <a:r>
              <a:rPr>
                <a:solidFill>
                  <a:srgbClr val="695D46"/>
                </a:solidFill>
              </a:rPr>
              <a:t>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function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handles building the widget in response to new states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443;p7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BlocBuilder</a:t>
            </a:r>
          </a:p>
        </p:txBody>
      </p:sp>
      <p:sp>
        <p:nvSpPr>
          <p:cNvPr id="246" name="Google Shape;444;p7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BlocBuilder</a:t>
            </a:r>
            <a:r>
              <a:rPr>
                <a:solidFill>
                  <a:srgbClr val="525252"/>
                </a:solidFill>
              </a:rPr>
              <a:t>&lt;BlocA, BlocAState&gt;(</a:t>
            </a:r>
            <a:endParaRPr>
              <a:solidFill>
                <a:srgbClr val="525252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builder: (context, state) {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8E908C"/>
                </a:solidFill>
              </a:rPr>
              <a:t>// return widget here based on BlocA's state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449;p73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BlocProvider.of</a:t>
            </a:r>
          </a:p>
        </p:txBody>
      </p:sp>
      <p:sp>
        <p:nvSpPr>
          <p:cNvPr id="249" name="Google Shape;450;p73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You can access the Bloc using the following also</a:t>
            </a:r>
          </a:p>
          <a:p>
            <a:pPr marL="0" indent="0">
              <a:spcBef>
                <a:spcPts val="1200"/>
              </a:spcBef>
              <a:buSzTx/>
              <a:buNone/>
              <a:defRPr sz="1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</a:t>
            </a:r>
            <a:r>
              <a:rPr>
                <a:solidFill>
                  <a:srgbClr val="8BE9FD"/>
                </a:solidFill>
              </a:rPr>
              <a:t>BlocProvider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50FA7B"/>
                </a:solidFill>
              </a:rPr>
              <a:t>of</a:t>
            </a:r>
            <a:r>
              <a:rPr>
                <a:solidFill>
                  <a:srgbClr val="F8F8F2"/>
                </a:solidFill>
              </a:rPr>
              <a:t>&lt;</a:t>
            </a:r>
            <a:r>
              <a:rPr>
                <a:solidFill>
                  <a:srgbClr val="8BE9FD"/>
                </a:solidFill>
              </a:rPr>
              <a:t>BlocA</a:t>
            </a:r>
            <a:r>
              <a:rPr>
                <a:solidFill>
                  <a:srgbClr val="FF79C6"/>
                </a:solidFill>
              </a:rPr>
              <a:t>&gt;</a:t>
            </a:r>
            <a:r>
              <a:rPr>
                <a:solidFill>
                  <a:srgbClr val="F8F8F2"/>
                </a:solidFill>
              </a:rPr>
              <a:t>(</a:t>
            </a:r>
            <a:r>
              <a:rPr i="1">
                <a:solidFill>
                  <a:srgbClr val="FFB86C"/>
                </a:solidFill>
              </a:rPr>
              <a:t>ctx</a:t>
            </a:r>
            <a:r>
              <a:rPr>
                <a:solidFill>
                  <a:srgbClr val="F8F8F2"/>
                </a:solidFill>
              </a:rPr>
              <a:t>).</a:t>
            </a:r>
            <a:r>
              <a:rPr>
                <a:solidFill>
                  <a:srgbClr val="50FA7B"/>
                </a:solidFill>
              </a:rPr>
              <a:t>state</a:t>
            </a:r>
            <a:r>
              <a:rPr>
                <a:solidFill>
                  <a:srgbClr val="F8F8F2"/>
                </a:solidFill>
              </a:rPr>
              <a:t>;</a:t>
            </a:r>
            <a:endParaRPr>
              <a:solidFill>
                <a:srgbClr val="F8F8F2"/>
              </a:solidFill>
            </a:endParaRPr>
          </a:p>
          <a:p>
            <a:pPr marL="0" indent="457200">
              <a:spcBef>
                <a:spcPts val="1200"/>
              </a:spcBef>
              <a:buSzTx/>
              <a:buNone/>
              <a:defRPr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BlocProvider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50FA7B"/>
                </a:solidFill>
              </a:rPr>
              <a:t>of</a:t>
            </a:r>
            <a:r>
              <a:rPr>
                <a:solidFill>
                  <a:srgbClr val="F8F8F2"/>
                </a:solidFill>
              </a:rPr>
              <a:t>&lt;</a:t>
            </a:r>
            <a:r>
              <a:t>BlocA</a:t>
            </a:r>
            <a:r>
              <a:rPr>
                <a:solidFill>
                  <a:srgbClr val="FF79C6"/>
                </a:solidFill>
              </a:rPr>
              <a:t>&gt;</a:t>
            </a:r>
            <a:r>
              <a:rPr>
                <a:solidFill>
                  <a:srgbClr val="F8F8F2"/>
                </a:solidFill>
              </a:rPr>
              <a:t>(</a:t>
            </a:r>
            <a:r>
              <a:rPr i="1">
                <a:solidFill>
                  <a:srgbClr val="FFB86C"/>
                </a:solidFill>
              </a:rPr>
              <a:t>ctx</a:t>
            </a:r>
            <a:r>
              <a:rPr>
                <a:solidFill>
                  <a:srgbClr val="F8F8F2"/>
                </a:solidFill>
              </a:rPr>
              <a:t>).</a:t>
            </a:r>
            <a:r>
              <a:rPr>
                <a:solidFill>
                  <a:srgbClr val="50FA7B"/>
                </a:solidFill>
              </a:rPr>
              <a:t>add(EventA)</a:t>
            </a:r>
            <a:r>
              <a:rPr>
                <a:solidFill>
                  <a:srgbClr val="F8F8F2"/>
                </a:solidFill>
              </a:rPr>
              <a:t>;</a:t>
            </a:r>
            <a:endParaRPr>
              <a:solidFill>
                <a:srgbClr val="F8F8F2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OR</a:t>
            </a:r>
            <a:endParaRPr sz="16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457200">
              <a:spcBef>
                <a:spcPts val="1200"/>
              </a:spcBef>
              <a:buSzTx/>
              <a:buNone/>
              <a:defRPr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context</a:t>
            </a:r>
            <a:r>
              <a:rPr>
                <a:solidFill>
                  <a:srgbClr val="F8F8F2"/>
                </a:solidFill>
              </a:rPr>
              <a:t>&lt;</a:t>
            </a:r>
            <a:r>
              <a:t>BlocA</a:t>
            </a:r>
            <a:r>
              <a:rPr>
                <a:solidFill>
                  <a:srgbClr val="FF79C6"/>
                </a:solidFill>
              </a:rPr>
              <a:t>&gt;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50FA7B"/>
                </a:solidFill>
              </a:rPr>
              <a:t>read</a:t>
            </a:r>
            <a:r>
              <a:rPr>
                <a:solidFill>
                  <a:srgbClr val="F8F8F2"/>
                </a:solidFill>
              </a:rPr>
              <a:t>().</a:t>
            </a:r>
            <a:r>
              <a:rPr>
                <a:solidFill>
                  <a:srgbClr val="50FA7B"/>
                </a:solidFill>
              </a:rPr>
              <a:t>state</a:t>
            </a:r>
            <a:r>
              <a:rPr>
                <a:solidFill>
                  <a:srgbClr val="F8F8F2"/>
                </a:solidFill>
              </a:rPr>
              <a:t>;</a:t>
            </a:r>
            <a:endParaRPr>
              <a:solidFill>
                <a:srgbClr val="F8F8F2"/>
              </a:solidFill>
            </a:endParaRPr>
          </a:p>
          <a:p>
            <a:pPr marL="0" indent="457200">
              <a:spcBef>
                <a:spcPts val="1200"/>
              </a:spcBef>
              <a:buSzTx/>
              <a:buNone/>
              <a:defRPr sz="16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context</a:t>
            </a:r>
            <a:r>
              <a:rPr>
                <a:solidFill>
                  <a:srgbClr val="F8F8F2"/>
                </a:solidFill>
              </a:rPr>
              <a:t>&lt;</a:t>
            </a:r>
            <a:r>
              <a:t>BlocA</a:t>
            </a:r>
            <a:r>
              <a:rPr>
                <a:solidFill>
                  <a:srgbClr val="FF79C6"/>
                </a:solidFill>
              </a:rPr>
              <a:t>&gt;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50FA7B"/>
                </a:solidFill>
              </a:rPr>
              <a:t>read</a:t>
            </a:r>
            <a:r>
              <a:rPr>
                <a:solidFill>
                  <a:srgbClr val="F8F8F2"/>
                </a:solidFill>
              </a:rPr>
              <a:t>().</a:t>
            </a:r>
            <a:r>
              <a:rPr>
                <a:solidFill>
                  <a:srgbClr val="50FA7B"/>
                </a:solidFill>
              </a:rPr>
              <a:t>add(EventA)</a:t>
            </a:r>
            <a:r>
              <a:rPr>
                <a:solidFill>
                  <a:srgbClr val="F8F8F2"/>
                </a:solidFill>
              </a:rP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455;p74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BlocListener</a:t>
            </a:r>
          </a:p>
        </p:txBody>
      </p:sp>
      <p:sp>
        <p:nvSpPr>
          <p:cNvPr id="252" name="Google Shape;456;p74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 Flutter widget which takes a </a:t>
            </a:r>
            <a:r>
              <a:t>BlocWidgetListener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an optional </a:t>
            </a:r>
            <a:r>
              <a:rPr>
                <a:solidFill>
                  <a:srgbClr val="695D46"/>
                </a:solidFill>
              </a:rPr>
              <a:t>Bloc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invokes the listener in response to state changes in the </a:t>
            </a:r>
            <a:r>
              <a:rPr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bloc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It should be used for functionality that needs to occur once per state change such as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navigation</a:t>
            </a:r>
            <a:r>
              <a:t>, showing a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SnackBar</a:t>
            </a:r>
            <a:r>
              <a:t>, showing a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Dialog</a:t>
            </a:r>
            <a:r>
              <a:t>, etc…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only called once for each state change (NOT including the initial state) unlike </a:t>
            </a:r>
            <a:r>
              <a:t>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t>BlocBuilder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is a void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461;p75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BlocListener</a:t>
            </a:r>
          </a:p>
        </p:txBody>
      </p:sp>
      <p:sp>
        <p:nvSpPr>
          <p:cNvPr id="255" name="Google Shape;462;p75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BlocListener</a:t>
            </a:r>
            <a:r>
              <a:rPr>
                <a:solidFill>
                  <a:srgbClr val="525252"/>
                </a:solidFill>
              </a:rPr>
              <a:t>&lt;BlocA, BlocAState&gt;(</a:t>
            </a:r>
            <a:endParaRPr>
              <a:solidFill>
                <a:srgbClr val="525252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listener: (context, state) {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8E908C"/>
                </a:solidFill>
              </a:rPr>
              <a:t>// do stuff here based on BlocA's state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},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child: </a:t>
            </a:r>
            <a:r>
              <a:rPr>
                <a:solidFill>
                  <a:schemeClr val="accent1"/>
                </a:solidFill>
              </a:rPr>
              <a:t>Container</a:t>
            </a:r>
            <a:r>
              <a:t>(),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467;p7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BlocConsumer</a:t>
            </a:r>
          </a:p>
        </p:txBody>
      </p:sp>
      <p:sp>
        <p:nvSpPr>
          <p:cNvPr id="258" name="Google Shape;468;p76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BlocConsumer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exposes a </a:t>
            </a:r>
            <a:r>
              <a:rPr>
                <a:solidFill>
                  <a:srgbClr val="695D46"/>
                </a:solidFill>
              </a:rPr>
              <a:t>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>
                <a:solidFill>
                  <a:srgbClr val="695D46"/>
                </a:solidFill>
              </a:rPr>
              <a:t>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in order to react to new states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BlocConsumer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analogous to a nested </a:t>
            </a:r>
            <a:r>
              <a:t>BlocListener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t>BlocBuilder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but reduces the amount of boilerplate needed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BlocConsumer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should only be used when it is necessary to both rebuild UI and execute other reactions to state changes in the cubit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473;p7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BlocConsumer</a:t>
            </a:r>
          </a:p>
        </p:txBody>
      </p:sp>
      <p:sp>
        <p:nvSpPr>
          <p:cNvPr id="261" name="Google Shape;474;p77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BlocConsumer</a:t>
            </a:r>
            <a:r>
              <a:rPr>
                <a:solidFill>
                  <a:srgbClr val="525252"/>
                </a:solidFill>
              </a:rPr>
              <a:t>&lt;BlocA, BlocAState&gt;(</a:t>
            </a:r>
            <a:endParaRPr>
              <a:solidFill>
                <a:srgbClr val="525252"/>
              </a:solidFill>
            </a:endParaRP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listener: (context, state) {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8E908C"/>
                </a:solidFill>
              </a:rPr>
              <a:t>// do stuff here based on BlocA's state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},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builder: (context, state) {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8E908C"/>
                </a:solidFill>
              </a:rPr>
              <a:t>// return widget here based on BlocA's state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 marL="0" indent="0">
              <a:buSzTx/>
              <a:buNone/>
              <a:defRPr b="1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479;p7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MultiBlocProvider</a:t>
            </a:r>
          </a:p>
        </p:txBody>
      </p:sp>
      <p:sp>
        <p:nvSpPr>
          <p:cNvPr id="264" name="Google Shape;480;p78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MultiBlocProvider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 Flutter widget that merges multiple </a:t>
            </a:r>
            <a:r>
              <a:t>BlocProvider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widgets into one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MultiBlocProvider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improves the readability and eliminates the need to nest multiple BlocProviders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485;p7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MultiBlocProvider</a:t>
            </a:r>
          </a:p>
        </p:txBody>
      </p:sp>
      <p:sp>
        <p:nvSpPr>
          <p:cNvPr id="267" name="Google Shape;486;p79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16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MultiBlocProvider</a:t>
            </a:r>
            <a:r>
              <a:rPr>
                <a:solidFill>
                  <a:srgbClr val="525252"/>
                </a:solidFill>
              </a:rPr>
              <a:t>(</a:t>
            </a:r>
            <a:endParaRPr>
              <a:solidFill>
                <a:srgbClr val="525252"/>
              </a:solidFill>
            </a:endParaRP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providers: [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BlocProvider&lt;BlocA&gt;(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create: (BuildContext context) =&gt; BlocA(),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BlocProvider&lt;BlocB&gt;(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create: (BuildContext context) =&gt; BlocB(),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],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child: ChildA(),</a:t>
            </a:r>
          </a:p>
          <a:p>
            <a:pPr marL="0" indent="0">
              <a:buSzTx/>
              <a:buNone/>
              <a:defRPr b="1" sz="16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491;p80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</a:p>
          <a:p>
            <a:pPr defTabSz="365760">
              <a:defRPr sz="1280"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270" name="Google Shape;492;p80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is a Flutter widget that merges multiple </a:t>
            </a:r>
            <a:r>
              <a:t>BlocListener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widgets into one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improves the readability and eliminates the need to nest multiple </a:t>
            </a:r>
            <a:r>
              <a:t>BlocListeners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497;p8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</a:p>
          <a:p>
            <a:pPr defTabSz="365760">
              <a:defRPr sz="1280"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273" name="Google Shape;498;p8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1700">
                <a:solidFill>
                  <a:srgbClr val="E969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MultiBlocListener</a:t>
            </a:r>
            <a:r>
              <a:rPr>
                <a:solidFill>
                  <a:srgbClr val="525252"/>
                </a:solidFill>
              </a:rPr>
              <a:t>(</a:t>
            </a:r>
            <a:endParaRPr>
              <a:solidFill>
                <a:srgbClr val="525252"/>
              </a:solidFill>
            </a:endParaRP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listeners: [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BlocListener&lt;BlocA, BlocAState&gt;(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listener: (context, state) {},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BlocListener&lt;BlocB, BlocBState&gt;(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listener: (context, state) {},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),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],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child: </a:t>
            </a:r>
            <a:r>
              <a:rPr>
                <a:solidFill>
                  <a:srgbClr val="E96900"/>
                </a:solidFill>
              </a:rPr>
              <a:t>ChildA</a:t>
            </a:r>
            <a:r>
              <a:t>(),</a:t>
            </a:r>
          </a:p>
          <a:p>
            <a:pPr marL="0" indent="0">
              <a:buSzTx/>
              <a:buNone/>
              <a:defRPr b="1" sz="1700">
                <a:solidFill>
                  <a:srgbClr val="52525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503;p8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Accessing Network in Flutter</a:t>
            </a:r>
          </a:p>
        </p:txBody>
      </p:sp>
      <p:sp>
        <p:nvSpPr>
          <p:cNvPr id="276" name="Google Shape;504;p8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Making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t>,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r>
              <a:t>,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t>,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t>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requests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Example 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We use a sample CRUD application named CourseApp which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Interacts with a REST API to perform CRUD operations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509;p83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The REST API</a:t>
            </a:r>
          </a:p>
        </p:txBody>
      </p:sp>
      <p:sp>
        <p:nvSpPr>
          <p:cNvPr id="279" name="Google Shape;510;p83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POST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Request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20124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curl -d </a:t>
            </a:r>
            <a:r>
              <a:rPr>
                <a:solidFill>
                  <a:srgbClr val="A31515"/>
                </a:solidFill>
              </a:rPr>
              <a:t>'{"title": "AMP", "code":"SITE-123", "description": "lorem ipsum", "ects": 7}' </a:t>
            </a:r>
            <a:r>
              <a:t>-H </a:t>
            </a:r>
            <a:r>
              <a:rPr>
                <a:solidFill>
                  <a:srgbClr val="A31515"/>
                </a:solidFill>
              </a:rPr>
              <a:t>'Content-Type: application/json' </a:t>
            </a:r>
            <a:r>
              <a:t>-X POST http://localhost:9191/api/v1/courses</a:t>
            </a:r>
            <a:endParaRPr u="sng">
              <a:solidFill>
                <a:schemeClr val="accent5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0000FF"/>
                </a:solidFill>
              </a:defRPr>
            </a:pPr>
            <a:r>
              <a:t>Result (returns </a:t>
            </a:r>
            <a:r>
              <a:rPr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200 OK </a:t>
            </a:r>
            <a:r>
              <a:t>on success)</a:t>
            </a:r>
          </a:p>
          <a:p>
            <a:pPr marL="0" indent="457200">
              <a:spcBef>
                <a:spcPts val="1200"/>
              </a:spcBef>
              <a:buSzTx/>
              <a:buNone/>
              <a:defRPr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{“id”:1,"title":"AMP","code":"SITE-123","description":"lorem ipsum","ects":7}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515;p84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The REST API</a:t>
            </a:r>
          </a:p>
        </p:txBody>
      </p:sp>
      <p:sp>
        <p:nvSpPr>
          <p:cNvPr id="282" name="Google Shape;516;p84"/>
          <p:cNvSpPr txBox="1"/>
          <p:nvPr>
            <p:ph type="body" idx="1"/>
          </p:nvPr>
        </p:nvSpPr>
        <p:spPr>
          <a:xfrm>
            <a:off x="311700" y="1266325"/>
            <a:ext cx="8730300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2000"/>
              </a:lnSpc>
              <a:buSzTx/>
              <a:buNone/>
              <a:defRPr b="1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GET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Request</a:t>
            </a: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  <a:defRPr sz="1600"/>
            </a:pPr>
            <a:r>
              <a:t>	</a:t>
            </a:r>
            <a:r>
              <a:rPr b="1">
                <a:solidFill>
                  <a:srgbClr val="20124D"/>
                </a:solidFill>
                <a:latin typeface="Courier New"/>
                <a:ea typeface="Courier New"/>
                <a:cs typeface="Courier New"/>
                <a:sym typeface="Courier New"/>
              </a:rPr>
              <a:t>curl -X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>
                <a:solidFill>
                  <a:srgbClr val="20124D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1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 http://localhost:9191/api/v1/courses</a:t>
            </a:r>
            <a:endParaRPr b="1">
              <a:solidFill>
                <a:srgbClr val="A315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92000"/>
              </a:lnSpc>
              <a:spcBef>
                <a:spcPts val="1200"/>
              </a:spcBef>
              <a:buSzTx/>
              <a:buNone/>
              <a:defRPr b="1" sz="1600">
                <a:solidFill>
                  <a:srgbClr val="0000FF"/>
                </a:solidFill>
              </a:defRPr>
            </a:pPr>
            <a:r>
              <a:t>Result</a:t>
            </a:r>
            <a:r>
              <a:rPr>
                <a:solidFill>
                  <a:srgbClr val="695D46"/>
                </a:solidFill>
              </a:rPr>
              <a:t> </a:t>
            </a:r>
            <a:r>
              <a:t> (returns </a:t>
            </a:r>
            <a:r>
              <a:rPr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200 OK </a:t>
            </a:r>
            <a:r>
              <a:t>on success)</a:t>
            </a:r>
          </a:p>
          <a:p>
            <a:pPr marL="0" indent="457200">
              <a:lnSpc>
                <a:spcPct val="92000"/>
              </a:lnSpc>
              <a:spcBef>
                <a:spcPts val="1200"/>
              </a:spcBef>
              <a:buSzTx/>
              <a:buNone/>
              <a:defRPr b="1" sz="1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[</a:t>
            </a:r>
          </a:p>
          <a:p>
            <a:pPr marL="0" indent="457200">
              <a:lnSpc>
                <a:spcPct val="92000"/>
              </a:lnSpc>
              <a:spcBef>
                <a:spcPts val="1200"/>
              </a:spcBef>
              <a:buSzTx/>
              <a:buNone/>
              <a:defRPr b="1" sz="1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{"id":1,"title":"AMP","code":"SITE-123","description":"lorem ipsum","ects":7},</a:t>
            </a:r>
          </a:p>
          <a:p>
            <a:pPr marL="0" indent="457200">
              <a:lnSpc>
                <a:spcPct val="92000"/>
              </a:lnSpc>
              <a:spcBef>
                <a:spcPts val="1200"/>
              </a:spcBef>
              <a:buSzTx/>
              <a:buNone/>
              <a:defRPr b="1" sz="1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{"id":2,"title":"SE-II","code":"SITE-124","description":"Lorem Ipsum","ects":5}</a:t>
            </a:r>
          </a:p>
          <a:p>
            <a:pPr marL="0" indent="457200">
              <a:lnSpc>
                <a:spcPct val="92000"/>
              </a:lnSpc>
              <a:spcBef>
                <a:spcPts val="1200"/>
              </a:spcBef>
              <a:buSzTx/>
              <a:buNone/>
              <a:defRPr b="1" sz="1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521;p85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The REST API</a:t>
            </a:r>
          </a:p>
        </p:txBody>
      </p:sp>
      <p:sp>
        <p:nvSpPr>
          <p:cNvPr id="285" name="Google Shape;522;p85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PUT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Request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20124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curl -d </a:t>
            </a:r>
            <a:r>
              <a:rPr>
                <a:solidFill>
                  <a:srgbClr val="A31515"/>
                </a:solidFill>
              </a:rPr>
              <a:t>'{"title": "SE-II","code":"SITE-126", "description": "lorem ipsum", "ects": 7}'</a:t>
            </a:r>
            <a:r>
              <a:t> -H </a:t>
            </a:r>
            <a:r>
              <a:rPr>
                <a:solidFill>
                  <a:srgbClr val="A31515"/>
                </a:solidFill>
              </a:rPr>
              <a:t>'Content-Type: application/json'</a:t>
            </a:r>
            <a:r>
              <a:t> -X PUT </a:t>
            </a:r>
            <a:r>
              <a:rPr>
                <a:solidFill>
                  <a:srgbClr val="A31515"/>
                </a:solidFill>
              </a:rPr>
              <a:t>http://localhost:9191/api/v1/courses/1</a:t>
            </a:r>
            <a:endParaRPr>
              <a:solidFill>
                <a:srgbClr val="A31515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0000FF"/>
                </a:solidFill>
              </a:defRPr>
            </a:pPr>
            <a:r>
              <a:t>Result  (returns </a:t>
            </a:r>
            <a:r>
              <a:rPr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204 No Content </a:t>
            </a:r>
            <a:r>
              <a:t>on success)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No 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527;p8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The REST API</a:t>
            </a:r>
          </a:p>
        </p:txBody>
      </p:sp>
      <p:sp>
        <p:nvSpPr>
          <p:cNvPr id="288" name="Google Shape;528;p86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DELETE</a:t>
            </a:r>
            <a:r>
              <a:rPr b="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Request</a:t>
            </a:r>
            <a:endParaRPr b="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indent="457200">
              <a:spcBef>
                <a:spcPts val="1200"/>
              </a:spcBef>
              <a:buSzTx/>
              <a:buNone/>
              <a:defRPr b="1">
                <a:solidFill>
                  <a:srgbClr val="20124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curl -X DELETE </a:t>
            </a:r>
            <a:r>
              <a:rPr>
                <a:solidFill>
                  <a:srgbClr val="A31515"/>
                </a:solidFill>
              </a:rPr>
              <a:t>http://localhost:9191/api/v1/courses/1</a:t>
            </a:r>
            <a:endParaRPr>
              <a:solidFill>
                <a:srgbClr val="A31515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0000FF"/>
                </a:solidFill>
              </a:defRPr>
            </a:pPr>
            <a:r>
              <a:t>Result  (returns </a:t>
            </a:r>
            <a:r>
              <a:rPr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204 No Content </a:t>
            </a:r>
            <a:r>
              <a:t>on success)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No 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533;p87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Making Network Request</a:t>
            </a:r>
          </a:p>
          <a:p>
            <a:pPr defTabSz="365760">
              <a:defRPr sz="1280"/>
            </a:pPr>
          </a:p>
        </p:txBody>
      </p:sp>
      <p:sp>
        <p:nvSpPr>
          <p:cNvPr id="291" name="Google Shape;534;p87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Installing http package</a:t>
            </a:r>
          </a:p>
          <a:p>
            <a:pPr marL="0" indent="0">
              <a:spcBef>
                <a:spcPts val="1200"/>
              </a:spcBef>
              <a:buSzTx/>
              <a:buNone/>
            </a:pPr>
            <a:r>
              <a:t>	</a:t>
            </a:r>
            <a:r>
              <a:rPr b="1">
                <a:solidFill>
                  <a:srgbClr val="1FBAAC"/>
                </a:solidFill>
                <a:latin typeface="Courier New"/>
                <a:ea typeface="Courier New"/>
                <a:cs typeface="Courier New"/>
                <a:sym typeface="Courier New"/>
              </a:rPr>
              <a:t>flutter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rPr>
              <a:t>pub add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 http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200"/>
              </a:spcBef>
              <a:buSzTx/>
              <a:buNone/>
            </a:pPr>
            <a:r>
              <a:t>Importing the </a:t>
            </a:r>
            <a:r>
              <a:rPr b="1">
                <a:solidFill>
                  <a:srgbClr val="1E1E1E"/>
                </a:solidFill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package </a:t>
            </a:r>
          </a:p>
          <a:p>
            <a:pPr marL="0" indent="0">
              <a:spcBef>
                <a:spcPts val="1200"/>
              </a:spcBef>
              <a:buSzTx/>
              <a:buNone/>
              <a:defRPr b="1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	</a:t>
            </a:r>
            <a:r>
              <a:rPr>
                <a:solidFill>
                  <a:srgbClr val="1FBAAC"/>
                </a:solidFill>
              </a:rPr>
              <a:t>import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1B87C9"/>
                </a:solidFill>
              </a:rPr>
              <a:t>'package:http/http.dart'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1FBAAC"/>
                </a:solidFill>
              </a:rPr>
              <a:t>as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539;p8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Making Network Request</a:t>
            </a:r>
          </a:p>
          <a:p>
            <a:pPr defTabSz="365760">
              <a:defRPr sz="1280"/>
            </a:pPr>
          </a:p>
        </p:txBody>
      </p:sp>
      <p:sp>
        <p:nvSpPr>
          <p:cNvPr id="294" name="Google Shape;540;p88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Adding the Internet permission in your </a:t>
            </a:r>
            <a:r>
              <a:rPr b="1">
                <a:solidFill>
                  <a:srgbClr val="1E1E1E"/>
                </a:solidFill>
                <a:latin typeface="Courier New"/>
                <a:ea typeface="Courier New"/>
                <a:cs typeface="Courier New"/>
                <a:sym typeface="Courier New"/>
              </a:rPr>
              <a:t>AndroidManifest.xml </a:t>
            </a:r>
            <a:r>
              <a:t>file </a:t>
            </a:r>
          </a:p>
          <a:p>
            <a:pPr marL="0" indent="457200">
              <a:spcBef>
                <a:spcPts val="1200"/>
              </a:spcBef>
              <a:buSzTx/>
              <a:buNone/>
              <a:defRPr b="1" sz="16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999999"/>
                </a:solidFill>
              </a:rPr>
              <a:t>&lt;!-- Required to fetch data from the internet. --&gt;</a:t>
            </a:r>
            <a:endParaRPr>
              <a:solidFill>
                <a:srgbClr val="212529"/>
              </a:solidFill>
            </a:endParaRPr>
          </a:p>
          <a:p>
            <a:pPr marL="0" indent="457200">
              <a:buSzTx/>
              <a:buNone/>
              <a:defRPr b="1" sz="16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&lt;uses-permission </a:t>
            </a:r>
            <a:r>
              <a:rPr>
                <a:solidFill>
                  <a:srgbClr val="1FBAAC"/>
                </a:solidFill>
              </a:rPr>
              <a:t>android:name=</a:t>
            </a:r>
            <a:r>
              <a:rPr>
                <a:solidFill>
                  <a:srgbClr val="1B87C9"/>
                </a:solidFill>
              </a:rPr>
              <a:t>"android.permission.INTERNET"</a:t>
            </a:r>
            <a:r>
              <a:t> /&gt;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545;p89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/>
            </a:pPr>
            <a:r>
              <a:t>Making Network Request</a:t>
            </a:r>
          </a:p>
          <a:p>
            <a:pPr defTabSz="365760">
              <a:defRPr sz="1280"/>
            </a:pPr>
          </a:p>
        </p:txBody>
      </p:sp>
      <p:sp>
        <p:nvSpPr>
          <p:cNvPr id="297" name="Google Shape;546;p89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buSzTx/>
              <a:buNone/>
            </a:pPr>
            <a:r>
              <a:t>We will use the model shown in the next slide to demonstrate how to perform CRUD operation on a remote REST API 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The CRUD methods shown in subsequent slides are used in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CourseDataProvider</a:t>
            </a:r>
            <a:r>
              <a:t> class later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</a:pPr>
            <a:r>
              <a:t>The base URL of the rest API is </a:t>
            </a:r>
          </a:p>
          <a:p>
            <a:pPr marL="0" indent="457200">
              <a:lnSpc>
                <a:spcPct val="103500"/>
              </a:lnSpc>
              <a:spcBef>
                <a:spcPts val="1200"/>
              </a:spcBef>
              <a:buSzTx/>
              <a:buNone/>
              <a:defRPr b="1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baseUrl = http://localhost:9191/api/v1/courses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551;p90"/>
          <p:cNvSpPr txBox="1"/>
          <p:nvPr>
            <p:ph type="body" idx="1"/>
          </p:nvPr>
        </p:nvSpPr>
        <p:spPr>
          <a:xfrm>
            <a:off x="311699" y="213324"/>
            <a:ext cx="8520602" cy="477210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000000"/>
                </a:solidFill>
              </a:rPr>
              <a:t> Course {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int</a:t>
            </a:r>
            <a:r>
              <a:t> id;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66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String</a:t>
            </a:r>
            <a:r>
              <a:rPr>
                <a:solidFill>
                  <a:srgbClr val="000000"/>
                </a:solidFill>
              </a:rPr>
              <a:t> code;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String</a:t>
            </a:r>
            <a:r>
              <a:t> title;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String</a:t>
            </a:r>
            <a:r>
              <a:t> description;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int</a:t>
            </a:r>
            <a:r>
              <a:t> ects;</a:t>
            </a:r>
          </a:p>
          <a:p>
            <a:pPr marL="0" indent="0">
              <a:lnSpc>
                <a:spcPct val="100000"/>
              </a:lnSpc>
              <a:buSzTx/>
              <a:buNone/>
            </a:pP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Course({</a:t>
            </a:r>
            <a:r>
              <a:rPr>
                <a:solidFill>
                  <a:srgbClr val="0000FF"/>
                </a:solidFill>
              </a:rPr>
              <a:t>this</a:t>
            </a:r>
            <a:r>
              <a:t>.id, this.code, </a:t>
            </a:r>
            <a:r>
              <a:rPr>
                <a:solidFill>
                  <a:srgbClr val="0000FF"/>
                </a:solidFill>
              </a:rPr>
              <a:t>this</a:t>
            </a:r>
            <a:r>
              <a:t>.title, </a:t>
            </a:r>
            <a:r>
              <a:rPr>
                <a:solidFill>
                  <a:srgbClr val="0000FF"/>
                </a:solidFill>
              </a:rPr>
              <a:t>this</a:t>
            </a:r>
            <a:r>
              <a:t>.description,        </a:t>
            </a:r>
            <a:endParaRPr>
              <a:solidFill>
                <a:srgbClr val="0000FF"/>
              </a:solidFill>
            </a:endParaRPr>
          </a:p>
          <a:p>
            <a:pPr marL="0" indent="457200">
              <a:lnSpc>
                <a:spcPct val="100000"/>
              </a:lnSpc>
              <a:buSzTx/>
              <a:buNone/>
              <a:defRPr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this</a:t>
            </a:r>
            <a:r>
              <a:rPr>
                <a:solidFill>
                  <a:srgbClr val="000000"/>
                </a:solidFill>
              </a:rPr>
              <a:t>.ects});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SzTx/>
              <a:buNone/>
            </a:pP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0000FF"/>
                </a:solidFill>
              </a:rPr>
              <a:t>factory</a:t>
            </a:r>
            <a:r>
              <a:t> Course.fromJson(Map&lt;String, dynamic&gt; json) {</a:t>
            </a: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</a:t>
            </a:r>
            <a:r>
              <a:rPr>
                <a:solidFill>
                  <a:srgbClr val="0000FF"/>
                </a:solidFill>
              </a:rPr>
              <a:t>return</a:t>
            </a:r>
            <a:r>
              <a:t> Course()</a:t>
            </a: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}</a:t>
            </a:r>
          </a:p>
          <a:p>
            <a:pPr marL="0" indent="0">
              <a:lnSpc>
                <a:spcPct val="100000"/>
              </a:lnSpc>
              <a:buSzTx/>
              <a:buNone/>
            </a:pP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556;p91"/>
          <p:cNvSpPr txBox="1"/>
          <p:nvPr>
            <p:ph type="body" idx="1"/>
          </p:nvPr>
        </p:nvSpPr>
        <p:spPr>
          <a:xfrm>
            <a:off x="311699" y="213324"/>
            <a:ext cx="8520602" cy="477210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</a:t>
            </a:r>
            <a:r>
              <a:rPr>
                <a:solidFill>
                  <a:srgbClr val="000000"/>
                </a:solidFill>
              </a:rPr>
              <a:t> Course {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long</a:t>
            </a:r>
            <a:r>
              <a:t> id;</a:t>
            </a: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66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String</a:t>
            </a:r>
            <a:r>
              <a:rPr>
                <a:solidFill>
                  <a:srgbClr val="000000"/>
                </a:solidFill>
              </a:rPr>
              <a:t> code;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660066"/>
                </a:solidFill>
              </a:rPr>
              <a:t>...</a:t>
            </a:r>
          </a:p>
          <a:p>
            <a:pPr marL="0" indent="0">
              <a:lnSpc>
                <a:spcPct val="100000"/>
              </a:lnSpc>
              <a:buSzTx/>
              <a:buNone/>
            </a:pP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  <a:r>
              <a:rPr>
                <a:solidFill>
                  <a:srgbClr val="0000FF"/>
                </a:solidFill>
              </a:rPr>
              <a:t>factory</a:t>
            </a:r>
            <a:r>
              <a:t> Course.fromJson(Map&lt;String, dynamic&gt; json) {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</a:t>
            </a:r>
            <a:r>
              <a:rPr>
                <a:solidFill>
                  <a:srgbClr val="0000FF"/>
                </a:solidFill>
              </a:rPr>
              <a:t>return</a:t>
            </a:r>
            <a:r>
              <a:t> Course(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id: </a:t>
            </a:r>
            <a:r>
              <a:rPr>
                <a:solidFill>
                  <a:srgbClr val="660066"/>
                </a:solidFill>
              </a:rPr>
              <a:t>json</a:t>
            </a:r>
            <a:r>
              <a:t>[</a:t>
            </a:r>
            <a:r>
              <a:rPr>
                <a:solidFill>
                  <a:srgbClr val="A31515"/>
                </a:solidFill>
              </a:rPr>
              <a:t>'id'</a:t>
            </a:r>
            <a:r>
              <a:t>],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code: </a:t>
            </a:r>
            <a:r>
              <a:rPr>
                <a:solidFill>
                  <a:srgbClr val="660066"/>
                </a:solidFill>
              </a:rPr>
              <a:t>json</a:t>
            </a:r>
            <a:r>
              <a:t>[</a:t>
            </a:r>
            <a:r>
              <a:rPr>
                <a:solidFill>
                  <a:srgbClr val="A31515"/>
                </a:solidFill>
              </a:rPr>
              <a:t>'code'</a:t>
            </a:r>
            <a:r>
              <a:t>],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title: </a:t>
            </a:r>
            <a:r>
              <a:rPr>
                <a:solidFill>
                  <a:srgbClr val="660066"/>
                </a:solidFill>
              </a:rPr>
              <a:t>json</a:t>
            </a:r>
            <a:r>
              <a:t>[</a:t>
            </a:r>
            <a:r>
              <a:rPr>
                <a:solidFill>
                  <a:srgbClr val="A31515"/>
                </a:solidFill>
              </a:rPr>
              <a:t>'title'</a:t>
            </a:r>
            <a:r>
              <a:t>],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description: </a:t>
            </a:r>
            <a:r>
              <a:rPr>
                <a:solidFill>
                  <a:srgbClr val="660066"/>
                </a:solidFill>
              </a:rPr>
              <a:t>json</a:t>
            </a:r>
            <a:r>
              <a:t>[</a:t>
            </a:r>
            <a:r>
              <a:rPr>
                <a:solidFill>
                  <a:srgbClr val="A31515"/>
                </a:solidFill>
              </a:rPr>
              <a:t>'description'</a:t>
            </a:r>
            <a:r>
              <a:t>],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ects: </a:t>
            </a:r>
            <a:r>
              <a:rPr>
                <a:solidFill>
                  <a:srgbClr val="660066"/>
                </a:solidFill>
              </a:rPr>
              <a:t>json</a:t>
            </a:r>
            <a:r>
              <a:t>[</a:t>
            </a:r>
            <a:r>
              <a:rPr>
                <a:solidFill>
                  <a:srgbClr val="A31515"/>
                </a:solidFill>
              </a:rPr>
              <a:t>'ects'</a:t>
            </a:r>
            <a:r>
              <a:t>],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);</a:t>
            </a:r>
          </a:p>
          <a:p>
            <a:pPr marL="0" indent="0">
              <a:lnSpc>
                <a:spcPct val="100000"/>
              </a:lnSpc>
              <a:buSzTx/>
              <a:buNone/>
              <a:defRPr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}</a:t>
            </a:r>
          </a:p>
          <a:p>
            <a:pPr marL="0" indent="0">
              <a:lnSpc>
                <a:spcPct val="100000"/>
              </a:lnSpc>
              <a:buSzTx/>
              <a:buNone/>
              <a:defRPr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561;p9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365760">
              <a:defRPr sz="1280">
                <a:solidFill>
                  <a:srgbClr val="073763"/>
                </a:solidFill>
              </a:defRPr>
            </a:pPr>
            <a:r>
              <a:t>C</a:t>
            </a:r>
            <a:r>
              <a:rPr>
                <a:solidFill>
                  <a:schemeClr val="accent1"/>
                </a:solidFill>
              </a:rPr>
              <a:t>RUD: </a:t>
            </a:r>
            <a:r>
              <a:t>Create Data</a:t>
            </a:r>
          </a:p>
          <a:p>
            <a:pPr defTabSz="365760">
              <a:defRPr sz="1280"/>
            </a:pPr>
          </a:p>
        </p:txBody>
      </p:sp>
      <p:sp>
        <p:nvSpPr>
          <p:cNvPr id="304" name="Google Shape;562;p9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Sending </a:t>
            </a:r>
            <a:r>
              <a:rPr b="1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t> request to REST API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Use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t> method provided by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package</a:t>
            </a:r>
          </a:p>
        </p:txBody>
      </p:sp>
      <p:sp>
        <p:nvSpPr>
          <p:cNvPr id="305" name="Google Shape;563;p92"/>
          <p:cNvSpPr txBox="1"/>
          <p:nvPr/>
        </p:nvSpPr>
        <p:spPr>
          <a:xfrm>
            <a:off x="397649" y="2379449"/>
            <a:ext cx="8214002" cy="690851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i="1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Response</a:t>
            </a:r>
            <a:r>
              <a:rPr i="0">
                <a:solidFill>
                  <a:srgbClr val="FF79C6"/>
                </a:solidFill>
              </a:rPr>
              <a:t>&gt;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50FA7B"/>
                </a:solidFill>
              </a:rPr>
              <a:t>post</a:t>
            </a:r>
            <a:r>
              <a:rPr i="0">
                <a:solidFill>
                  <a:srgbClr val="F8F8F2"/>
                </a:solidFill>
              </a:rPr>
              <a:t>(</a:t>
            </a:r>
            <a:r>
              <a:t>Uri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url</a:t>
            </a:r>
            <a:r>
              <a:rPr i="0">
                <a:solidFill>
                  <a:srgbClr val="F8F8F2"/>
                </a:solidFill>
              </a:rPr>
              <a:t>, {</a:t>
            </a:r>
            <a:r>
              <a:t>Map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String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String</a:t>
            </a:r>
            <a:r>
              <a:rPr i="0">
                <a:solidFill>
                  <a:srgbClr val="FF79C6"/>
                </a:solidFill>
              </a:rPr>
              <a:t>&gt;?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headers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Object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body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Encoding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encoding</a:t>
            </a:r>
            <a:r>
              <a:rPr i="0">
                <a:solidFill>
                  <a:srgbClr val="F8F8F2"/>
                </a:solidFill>
              </a:rPr>
              <a:t>})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568;p93"/>
          <p:cNvSpPr txBox="1"/>
          <p:nvPr>
            <p:ph type="body" idx="1"/>
          </p:nvPr>
        </p:nvSpPr>
        <p:spPr>
          <a:xfrm>
            <a:off x="311699" y="284424"/>
            <a:ext cx="8520602" cy="4284602"/>
          </a:xfrm>
          <a:prstGeom prst="rect">
            <a:avLst/>
          </a:prstGeom>
        </p:spPr>
        <p:txBody>
          <a:bodyPr/>
          <a:lstStyle/>
          <a:p>
            <a:pPr marL="0" indent="0" defTabSz="822959">
              <a:buSzTx/>
              <a:buNone/>
              <a:defRPr sz="1260">
                <a:solidFill>
                  <a:srgbClr val="66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>
                <a:solidFill>
                  <a:srgbClr val="222222"/>
                </a:solidFill>
              </a:rPr>
              <a:t>&lt;</a:t>
            </a:r>
            <a:r>
              <a:t>Course</a:t>
            </a:r>
            <a:r>
              <a:rPr>
                <a:solidFill>
                  <a:srgbClr val="222222"/>
                </a:solidFill>
              </a:rPr>
              <a:t>&gt;</a:t>
            </a:r>
            <a:r>
              <a:rPr>
                <a:solidFill>
                  <a:srgbClr val="212529"/>
                </a:solidFill>
              </a:rPr>
              <a:t> </a:t>
            </a:r>
            <a:r>
              <a:t>createCourse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FBAAC"/>
                </a:solidFill>
              </a:rPr>
              <a:t>Course</a:t>
            </a:r>
            <a:r>
              <a:rPr>
                <a:solidFill>
                  <a:srgbClr val="212529"/>
                </a:solidFill>
              </a:rPr>
              <a:t> </a:t>
            </a:r>
            <a:r>
              <a:t>course</a:t>
            </a:r>
            <a:r>
              <a:rPr>
                <a:solidFill>
                  <a:srgbClr val="222222"/>
                </a:solidFill>
              </a:rPr>
              <a:t>)</a:t>
            </a:r>
            <a:r>
              <a:rPr>
                <a:solidFill>
                  <a:srgbClr val="212529"/>
                </a:solidFill>
              </a:rPr>
              <a:t> </a:t>
            </a:r>
            <a:r>
              <a:t>async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12529"/>
              </a:solidFill>
            </a:endParaRP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final</a:t>
            </a:r>
            <a:r>
              <a:t> </a:t>
            </a:r>
            <a:r>
              <a:rPr b="1">
                <a:solidFill>
                  <a:srgbClr val="660066"/>
                </a:solidFill>
              </a:rPr>
              <a:t>response</a:t>
            </a:r>
            <a:r>
              <a:t> </a:t>
            </a:r>
            <a:r>
              <a:rPr>
                <a:solidFill>
                  <a:srgbClr val="222222"/>
                </a:solidFill>
              </a:rPr>
              <a:t>=</a:t>
            </a:r>
            <a:r>
              <a:t> </a:t>
            </a:r>
            <a:r>
              <a:rPr>
                <a:solidFill>
                  <a:srgbClr val="660066"/>
                </a:solidFill>
              </a:rPr>
              <a:t>await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 b="1">
                <a:solidFill>
                  <a:srgbClr val="1FBAAC"/>
                </a:solidFill>
              </a:rPr>
              <a:t>post</a:t>
            </a:r>
            <a:r>
              <a:rPr>
                <a:solidFill>
                  <a:srgbClr val="222222"/>
                </a:solidFill>
              </a:rPr>
              <a:t>(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 b="1">
                <a:solidFill>
                  <a:srgbClr val="660066"/>
                </a:solidFill>
              </a:rPr>
              <a:t>Uri</a:t>
            </a:r>
            <a:r>
              <a:rPr b="1">
                <a:solidFill>
                  <a:srgbClr val="222222"/>
                </a:solidFill>
              </a:rPr>
              <a:t>.</a:t>
            </a:r>
            <a:r>
              <a:rPr b="1">
                <a:solidFill>
                  <a:srgbClr val="1FBAAC"/>
                </a:solidFill>
              </a:rPr>
              <a:t>parse</a:t>
            </a:r>
            <a:r>
              <a:rPr b="1">
                <a:solidFill>
                  <a:srgbClr val="222222"/>
                </a:solidFill>
              </a:rPr>
              <a:t>(</a:t>
            </a:r>
            <a:r>
              <a:rPr b="1">
                <a:solidFill>
                  <a:srgbClr val="1B87C9"/>
                </a:solidFill>
              </a:rPr>
              <a:t>baseUrl</a:t>
            </a:r>
            <a:r>
              <a:rPr b="1">
                <a:solidFill>
                  <a:srgbClr val="222222"/>
                </a:solidFill>
              </a:rPr>
              <a:t>)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 b="1"/>
              <a:t>headers</a:t>
            </a:r>
            <a:r>
              <a:t>: </a:t>
            </a:r>
            <a:r>
              <a:rPr>
                <a:solidFill>
                  <a:srgbClr val="222222"/>
                </a:solidFill>
              </a:rPr>
              <a:t>&lt;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,</a:t>
            </a:r>
            <a:r>
              <a:t> 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&gt;{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</a:t>
            </a:r>
            <a:r>
              <a:rPr>
                <a:solidFill>
                  <a:srgbClr val="1B87C9"/>
                </a:solidFill>
              </a:rPr>
              <a:t>'Content-Type'</a:t>
            </a:r>
            <a:r>
              <a:rPr>
                <a:solidFill>
                  <a:srgbClr val="222222"/>
                </a:solidFill>
              </a:rPr>
              <a:t>:</a:t>
            </a:r>
            <a:r>
              <a:t> </a:t>
            </a:r>
            <a:r>
              <a:rPr>
                <a:solidFill>
                  <a:srgbClr val="1B87C9"/>
                </a:solidFill>
              </a:rPr>
              <a:t>'application/json; charset=UTF-8'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222222"/>
                </a:solidFill>
              </a:rPr>
              <a:t>},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 b="1"/>
              <a:t>body</a:t>
            </a:r>
            <a:r>
              <a:t>: </a:t>
            </a:r>
            <a:r>
              <a:rPr>
                <a:solidFill>
                  <a:srgbClr val="660066"/>
                </a:solidFill>
              </a:rPr>
              <a:t>jsonEncode</a:t>
            </a:r>
            <a:r>
              <a:rPr>
                <a:solidFill>
                  <a:srgbClr val="222222"/>
                </a:solidFill>
              </a:rPr>
              <a:t>(&lt;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,</a:t>
            </a:r>
            <a:r>
              <a:t> 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&gt;{</a:t>
            </a:r>
            <a:endParaRPr>
              <a:solidFill>
                <a:srgbClr val="222222"/>
              </a:solidFill>
            </a:endParaRPr>
          </a:p>
          <a:p>
            <a:pPr marL="0" indent="822959" defTabSz="822959">
              <a:buSzTx/>
              <a:buNone/>
              <a:defRPr sz="1260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'code'</a:t>
            </a:r>
            <a:r>
              <a:rPr>
                <a:solidFill>
                  <a:srgbClr val="222222"/>
                </a:solidFill>
              </a:rPr>
              <a:t>: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course.</a:t>
            </a:r>
            <a:r>
              <a:rPr>
                <a:solidFill>
                  <a:srgbClr val="660066"/>
                </a:solidFill>
              </a:rPr>
              <a:t>code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	</a:t>
            </a:r>
            <a:r>
              <a:rPr>
                <a:solidFill>
                  <a:srgbClr val="1B87C9"/>
                </a:solidFill>
              </a:rPr>
              <a:t>'title'</a:t>
            </a:r>
            <a:r>
              <a:rPr>
                <a:solidFill>
                  <a:srgbClr val="222222"/>
                </a:solidFill>
              </a:rPr>
              <a:t>:</a:t>
            </a:r>
            <a:r>
              <a:t> </a:t>
            </a:r>
            <a:r>
              <a:rPr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course.</a:t>
            </a:r>
            <a:r>
              <a:rPr>
                <a:solidFill>
                  <a:srgbClr val="660066"/>
                </a:solidFill>
              </a:rPr>
              <a:t>title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822959" defTabSz="822959">
              <a:buSzTx/>
              <a:buNone/>
              <a:defRPr sz="1260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'description'</a:t>
            </a:r>
            <a:r>
              <a:rPr>
                <a:solidFill>
                  <a:srgbClr val="222222"/>
                </a:solidFill>
              </a:rPr>
              <a:t>: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course.</a:t>
            </a:r>
            <a:r>
              <a:rPr>
                <a:solidFill>
                  <a:srgbClr val="660066"/>
                </a:solidFill>
              </a:rPr>
              <a:t>description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822959" defTabSz="822959">
              <a:buSzTx/>
              <a:buNone/>
              <a:defRPr sz="1260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'ects'</a:t>
            </a:r>
            <a:r>
              <a:rPr>
                <a:solidFill>
                  <a:srgbClr val="222222"/>
                </a:solidFill>
              </a:rPr>
              <a:t>: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course.ects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222222"/>
                </a:solidFill>
              </a:rPr>
              <a:t>}),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if</a:t>
            </a:r>
            <a:r>
              <a:t> </a:t>
            </a:r>
            <a:r>
              <a:rPr>
                <a:solidFill>
                  <a:srgbClr val="222222"/>
                </a:solidFill>
              </a:rPr>
              <a:t>(</a:t>
            </a:r>
            <a:r>
              <a:rPr b="1">
                <a:solidFill>
                  <a:srgbClr val="660066"/>
                </a:solidFill>
              </a:rPr>
              <a:t>response</a:t>
            </a:r>
            <a:r>
              <a:rPr b="1">
                <a:solidFill>
                  <a:srgbClr val="222222"/>
                </a:solidFill>
              </a:rPr>
              <a:t>.</a:t>
            </a:r>
            <a:r>
              <a:rPr b="1">
                <a:solidFill>
                  <a:srgbClr val="1FBAAC"/>
                </a:solidFill>
              </a:rPr>
              <a:t>statusCode</a:t>
            </a:r>
            <a:r>
              <a:rPr b="1"/>
              <a:t> </a:t>
            </a:r>
            <a:r>
              <a:rPr b="1">
                <a:solidFill>
                  <a:srgbClr val="222222"/>
                </a:solidFill>
              </a:rPr>
              <a:t>==</a:t>
            </a:r>
            <a:r>
              <a:rPr b="1"/>
              <a:t> 200</a:t>
            </a:r>
            <a:r>
              <a:rPr>
                <a:solidFill>
                  <a:srgbClr val="222222"/>
                </a:solidFill>
              </a:rPr>
              <a:t>)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return</a:t>
            </a:r>
            <a:r>
              <a:t> </a:t>
            </a:r>
            <a:r>
              <a:rPr>
                <a:solidFill>
                  <a:srgbClr val="660066"/>
                </a:solidFill>
              </a:rPr>
              <a:t>Course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fromJson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jsonDecode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body</a:t>
            </a:r>
            <a:r>
              <a:rPr>
                <a:solidFill>
                  <a:srgbClr val="222222"/>
                </a:solidFill>
              </a:rPr>
              <a:t>));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  <a:r>
              <a:t> </a:t>
            </a:r>
            <a:r>
              <a:rPr>
                <a:solidFill>
                  <a:srgbClr val="1FBAAC"/>
                </a:solidFill>
              </a:rPr>
              <a:t>else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throw</a:t>
            </a:r>
            <a:r>
              <a:t> </a:t>
            </a:r>
            <a:r>
              <a:rPr>
                <a:solidFill>
                  <a:srgbClr val="660066"/>
                </a:solidFill>
              </a:rPr>
              <a:t>Exception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B87C9"/>
                </a:solidFill>
              </a:rPr>
              <a:t>'Failed to load course'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 defTabSz="822959">
              <a:buSzTx/>
              <a:buNone/>
              <a:defRPr sz="126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</a:p>
          <a:p>
            <a:pPr marL="0" indent="0" defTabSz="822959">
              <a:buSzTx/>
              <a:buNone/>
              <a:defRPr sz="126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573;p94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457200">
              <a:defRPr sz="1600"/>
            </a:pPr>
            <a:r>
              <a:t>C</a:t>
            </a:r>
            <a:r>
              <a:rPr>
                <a:solidFill>
                  <a:srgbClr val="34495E"/>
                </a:solidFill>
              </a:rPr>
              <a:t>R</a:t>
            </a:r>
            <a:r>
              <a:t>UD: </a:t>
            </a:r>
            <a:r>
              <a:rPr>
                <a:solidFill>
                  <a:srgbClr val="34495E"/>
                </a:solidFill>
              </a:rPr>
              <a:t>Read Data</a:t>
            </a:r>
            <a:endParaRPr>
              <a:solidFill>
                <a:srgbClr val="34495E"/>
              </a:solidFill>
            </a:endParaRPr>
          </a:p>
        </p:txBody>
      </p:sp>
      <p:sp>
        <p:nvSpPr>
          <p:cNvPr id="310" name="Google Shape;574;p94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Sending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t> request to REST API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Use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t> method provided by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package</a:t>
            </a:r>
          </a:p>
        </p:txBody>
      </p:sp>
      <p:sp>
        <p:nvSpPr>
          <p:cNvPr id="311" name="Google Shape;575;p94"/>
          <p:cNvSpPr txBox="1"/>
          <p:nvPr/>
        </p:nvSpPr>
        <p:spPr>
          <a:xfrm>
            <a:off x="216749" y="2501025"/>
            <a:ext cx="8710502" cy="436851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i="1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Response</a:t>
            </a:r>
            <a:r>
              <a:rPr i="0">
                <a:solidFill>
                  <a:srgbClr val="FF79C6"/>
                </a:solidFill>
              </a:rPr>
              <a:t>&gt;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F79C6"/>
                </a:solidFill>
              </a:rPr>
              <a:t>get</a:t>
            </a:r>
            <a:r>
              <a:rPr i="0">
                <a:solidFill>
                  <a:srgbClr val="F8F8F2"/>
                </a:solidFill>
              </a:rPr>
              <a:t>(</a:t>
            </a:r>
            <a:r>
              <a:t>Uri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url</a:t>
            </a:r>
            <a:r>
              <a:rPr i="0">
                <a:solidFill>
                  <a:srgbClr val="F8F8F2"/>
                </a:solidFill>
              </a:rPr>
              <a:t>, {</a:t>
            </a:r>
            <a:r>
              <a:t>Map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String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String</a:t>
            </a:r>
            <a:r>
              <a:rPr i="0">
                <a:solidFill>
                  <a:srgbClr val="FF79C6"/>
                </a:solidFill>
              </a:rPr>
              <a:t>&gt;?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headers</a:t>
            </a:r>
            <a:r>
              <a:rPr i="0">
                <a:solidFill>
                  <a:srgbClr val="F8F8F2"/>
                </a:solidFill>
              </a:rPr>
              <a:t>})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580;p95"/>
          <p:cNvSpPr txBox="1"/>
          <p:nvPr>
            <p:ph type="body" idx="1"/>
          </p:nvPr>
        </p:nvSpPr>
        <p:spPr>
          <a:xfrm>
            <a:off x="311699" y="1264149"/>
            <a:ext cx="8520602" cy="36582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Future</a:t>
            </a:r>
            <a:r>
              <a:rPr>
                <a:solidFill>
                  <a:srgbClr val="222222"/>
                </a:solidFill>
              </a:rPr>
              <a:t>&lt;</a:t>
            </a:r>
            <a:r>
              <a:t>Course</a:t>
            </a:r>
            <a:r>
              <a:rPr>
                <a:solidFill>
                  <a:srgbClr val="222222"/>
                </a:solidFill>
              </a:rPr>
              <a:t>&gt;</a:t>
            </a:r>
            <a:r>
              <a:rPr>
                <a:solidFill>
                  <a:srgbClr val="212529"/>
                </a:solidFill>
              </a:rPr>
              <a:t> </a:t>
            </a:r>
            <a:r>
              <a:t>getCourse</a:t>
            </a:r>
            <a:r>
              <a:rPr>
                <a:solidFill>
                  <a:srgbClr val="222222"/>
                </a:solidFill>
              </a:rPr>
              <a:t>(String id)</a:t>
            </a:r>
            <a:r>
              <a:rPr>
                <a:solidFill>
                  <a:srgbClr val="212529"/>
                </a:solidFill>
              </a:rPr>
              <a:t> </a:t>
            </a:r>
            <a:r>
              <a:t>async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12529"/>
              </a:solidFill>
            </a:endParaRP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final</a:t>
            </a:r>
            <a:r>
              <a:t> 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t> </a:t>
            </a:r>
            <a:r>
              <a:rPr>
                <a:solidFill>
                  <a:srgbClr val="222222"/>
                </a:solidFill>
              </a:rPr>
              <a:t>=</a:t>
            </a:r>
            <a:r>
              <a:t> </a:t>
            </a:r>
            <a:r>
              <a:rPr>
                <a:solidFill>
                  <a:srgbClr val="660066"/>
                </a:solidFill>
              </a:rPr>
              <a:t>await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get</a:t>
            </a:r>
            <a:r>
              <a:rPr>
                <a:solidFill>
                  <a:srgbClr val="222222"/>
                </a:solidFill>
              </a:rPr>
              <a:t>(Uri.parse(</a:t>
            </a:r>
            <a:r>
              <a:rPr>
                <a:solidFill>
                  <a:srgbClr val="1B87C9"/>
                </a:solidFill>
              </a:rPr>
              <a:t>'</a:t>
            </a:r>
            <a:r>
              <a:rPr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>
                <a:solidFill>
                  <a:srgbClr val="1B87C9"/>
                </a:solidFill>
              </a:rPr>
              <a:t>baseUrl/$id')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>
              <a:buSzTx/>
              <a:buNone/>
            </a:pPr>
            <a:endParaRPr>
              <a:solidFill>
                <a:srgbClr val="21252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if</a:t>
            </a:r>
            <a:r>
              <a:t> 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statusCode</a:t>
            </a:r>
            <a:r>
              <a:t> </a:t>
            </a:r>
            <a:r>
              <a:rPr>
                <a:solidFill>
                  <a:srgbClr val="222222"/>
                </a:solidFill>
              </a:rPr>
              <a:t>==</a:t>
            </a:r>
            <a:r>
              <a:t> 200</a:t>
            </a:r>
            <a:r>
              <a:rPr>
                <a:solidFill>
                  <a:srgbClr val="222222"/>
                </a:solidFill>
              </a:rPr>
              <a:t>)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return</a:t>
            </a:r>
            <a:r>
              <a:t> </a:t>
            </a:r>
            <a:r>
              <a:rPr>
                <a:solidFill>
                  <a:srgbClr val="660066"/>
                </a:solidFill>
              </a:rPr>
              <a:t>Course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fromJson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jsonDecode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body</a:t>
            </a:r>
            <a:r>
              <a:rPr>
                <a:solidFill>
                  <a:srgbClr val="222222"/>
                </a:solidFill>
              </a:rPr>
              <a:t>));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  <a:r>
              <a:t> </a:t>
            </a:r>
            <a:r>
              <a:rPr>
                <a:solidFill>
                  <a:srgbClr val="1FBAAC"/>
                </a:solidFill>
              </a:rPr>
              <a:t>else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throw</a:t>
            </a:r>
            <a:r>
              <a:t> </a:t>
            </a:r>
            <a:r>
              <a:rPr>
                <a:solidFill>
                  <a:srgbClr val="660066"/>
                </a:solidFill>
              </a:rPr>
              <a:t>Exception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B87C9"/>
                </a:solidFill>
              </a:rPr>
              <a:t>'Failed to load course'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</a:p>
          <a:p>
            <a:pPr marL="0" indent="0">
              <a:buSzTx/>
              <a:buNone/>
              <a:defRPr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585;p96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457200">
              <a:defRPr sz="1600"/>
            </a:pPr>
            <a:r>
              <a:t>CR</a:t>
            </a:r>
            <a:r>
              <a:rPr>
                <a:solidFill>
                  <a:srgbClr val="073763"/>
                </a:solidFill>
              </a:rPr>
              <a:t>U</a:t>
            </a:r>
            <a:r>
              <a:t>D: </a:t>
            </a:r>
            <a:r>
              <a:rPr>
                <a:solidFill>
                  <a:srgbClr val="073763"/>
                </a:solidFill>
              </a:rPr>
              <a:t>Update Data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316" name="Google Shape;586;p96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Sending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t> request to REST API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Use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put</a:t>
            </a:r>
            <a:r>
              <a:t> method provided by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package</a:t>
            </a:r>
          </a:p>
        </p:txBody>
      </p:sp>
      <p:sp>
        <p:nvSpPr>
          <p:cNvPr id="317" name="Google Shape;587;p96"/>
          <p:cNvSpPr txBox="1"/>
          <p:nvPr/>
        </p:nvSpPr>
        <p:spPr>
          <a:xfrm>
            <a:off x="397650" y="2399000"/>
            <a:ext cx="7676099" cy="690851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i="1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Response</a:t>
            </a:r>
            <a:r>
              <a:rPr i="0">
                <a:solidFill>
                  <a:srgbClr val="FF79C6"/>
                </a:solidFill>
              </a:rPr>
              <a:t>&gt;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50FA7B"/>
                </a:solidFill>
              </a:rPr>
              <a:t>put</a:t>
            </a:r>
            <a:r>
              <a:rPr i="0">
                <a:solidFill>
                  <a:srgbClr val="F8F8F2"/>
                </a:solidFill>
              </a:rPr>
              <a:t>(</a:t>
            </a:r>
            <a:r>
              <a:t>Uri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url</a:t>
            </a:r>
            <a:r>
              <a:rPr i="0">
                <a:solidFill>
                  <a:srgbClr val="F8F8F2"/>
                </a:solidFill>
              </a:rPr>
              <a:t>, {</a:t>
            </a:r>
            <a:r>
              <a:t>Map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String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String</a:t>
            </a:r>
            <a:r>
              <a:rPr i="0">
                <a:solidFill>
                  <a:srgbClr val="FF79C6"/>
                </a:solidFill>
              </a:rPr>
              <a:t>&gt;?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headers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Object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body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Encoding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encoding})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592;p97"/>
          <p:cNvSpPr txBox="1"/>
          <p:nvPr>
            <p:ph type="body" idx="1"/>
          </p:nvPr>
        </p:nvSpPr>
        <p:spPr>
          <a:xfrm>
            <a:off x="311699" y="284424"/>
            <a:ext cx="8520602" cy="4284602"/>
          </a:xfrm>
          <a:prstGeom prst="rect">
            <a:avLst/>
          </a:prstGeom>
        </p:spPr>
        <p:txBody>
          <a:bodyPr/>
          <a:lstStyle/>
          <a:p>
            <a:pPr marL="0" indent="0" defTabSz="886968">
              <a:buSzTx/>
              <a:buNone/>
              <a:defRPr sz="1358"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Future</a:t>
            </a:r>
            <a:r>
              <a:rPr>
                <a:solidFill>
                  <a:srgbClr val="222222"/>
                </a:solidFill>
              </a:rPr>
              <a:t>&lt;void&gt;</a:t>
            </a:r>
            <a:r>
              <a:rPr>
                <a:solidFill>
                  <a:srgbClr val="212529"/>
                </a:solidFill>
              </a:rPr>
              <a:t> </a:t>
            </a:r>
            <a:r>
              <a:t>updateCourse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FBAAC"/>
                </a:solidFill>
              </a:rPr>
              <a:t>Course</a:t>
            </a:r>
            <a:r>
              <a:rPr>
                <a:solidFill>
                  <a:srgbClr val="212529"/>
                </a:solidFill>
              </a:rPr>
              <a:t> </a:t>
            </a:r>
            <a:r>
              <a:t>course</a:t>
            </a:r>
            <a:r>
              <a:rPr>
                <a:solidFill>
                  <a:srgbClr val="222222"/>
                </a:solidFill>
              </a:rPr>
              <a:t>)</a:t>
            </a:r>
            <a:r>
              <a:rPr>
                <a:solidFill>
                  <a:srgbClr val="212529"/>
                </a:solidFill>
              </a:rPr>
              <a:t> </a:t>
            </a:r>
            <a:r>
              <a:t>async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12529"/>
              </a:solidFill>
            </a:endParaRP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final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Response</a:t>
            </a:r>
            <a:r>
              <a:t> 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t> </a:t>
            </a:r>
            <a:r>
              <a:rPr>
                <a:solidFill>
                  <a:srgbClr val="222222"/>
                </a:solidFill>
              </a:rPr>
              <a:t>=</a:t>
            </a:r>
            <a:r>
              <a:t> </a:t>
            </a:r>
            <a:r>
              <a:rPr>
                <a:solidFill>
                  <a:srgbClr val="660066"/>
                </a:solidFill>
              </a:rPr>
              <a:t>await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put</a:t>
            </a:r>
            <a:r>
              <a:rPr>
                <a:solidFill>
                  <a:srgbClr val="222222"/>
                </a:solidFill>
              </a:rPr>
              <a:t>(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Uri.parse(</a:t>
            </a:r>
            <a:r>
              <a:rPr>
                <a:solidFill>
                  <a:srgbClr val="1B87C9"/>
                </a:solidFill>
              </a:rPr>
              <a:t>'</a:t>
            </a:r>
            <a:r>
              <a:rPr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>
                <a:solidFill>
                  <a:srgbClr val="1B87C9"/>
                </a:solidFill>
              </a:rPr>
              <a:t>baseUrl/${course.id})'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headers: </a:t>
            </a:r>
            <a:r>
              <a:rPr>
                <a:solidFill>
                  <a:srgbClr val="222222"/>
                </a:solidFill>
              </a:rPr>
              <a:t>&lt;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,</a:t>
            </a:r>
            <a:r>
              <a:t> 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&gt;{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  </a:t>
            </a:r>
            <a:r>
              <a:rPr>
                <a:solidFill>
                  <a:srgbClr val="1B87C9"/>
                </a:solidFill>
              </a:rPr>
              <a:t>'Content-Type'</a:t>
            </a:r>
            <a:r>
              <a:rPr>
                <a:solidFill>
                  <a:srgbClr val="222222"/>
                </a:solidFill>
              </a:rPr>
              <a:t>:</a:t>
            </a:r>
            <a:r>
              <a:t> </a:t>
            </a:r>
            <a:r>
              <a:rPr>
                <a:solidFill>
                  <a:srgbClr val="1B87C9"/>
                </a:solidFill>
              </a:rPr>
              <a:t>'application/json; charset=UTF-8'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</a:t>
            </a:r>
            <a:r>
              <a:rPr>
                <a:solidFill>
                  <a:srgbClr val="222222"/>
                </a:solidFill>
              </a:rPr>
              <a:t>},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body: </a:t>
            </a:r>
            <a:r>
              <a:rPr>
                <a:solidFill>
                  <a:srgbClr val="660066"/>
                </a:solidFill>
              </a:rPr>
              <a:t>jsonEncode</a:t>
            </a:r>
            <a:r>
              <a:rPr>
                <a:solidFill>
                  <a:srgbClr val="222222"/>
                </a:solidFill>
              </a:rPr>
              <a:t>(&lt;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,</a:t>
            </a:r>
            <a:r>
              <a:t> </a:t>
            </a:r>
            <a:r>
              <a:rPr>
                <a:solidFill>
                  <a:srgbClr val="1FBAAC"/>
                </a:solidFill>
              </a:rPr>
              <a:t>dynamic</a:t>
            </a:r>
            <a:r>
              <a:rPr>
                <a:solidFill>
                  <a:srgbClr val="222222"/>
                </a:solidFill>
              </a:rPr>
              <a:t>&gt;{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  </a:t>
            </a:r>
            <a:r>
              <a:rPr>
                <a:solidFill>
                  <a:srgbClr val="1B87C9"/>
                </a:solidFill>
              </a:rPr>
              <a:t>'id'</a:t>
            </a:r>
            <a:r>
              <a:rPr>
                <a:solidFill>
                  <a:srgbClr val="222222"/>
                </a:solidFill>
              </a:rPr>
              <a:t>:</a:t>
            </a:r>
            <a:r>
              <a:t> </a:t>
            </a:r>
            <a:r>
              <a:rPr>
                <a:solidFill>
                  <a:srgbClr val="660066"/>
                </a:solidFill>
              </a:rPr>
              <a:t>course.id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0" defTabSz="886968">
              <a:buSzTx/>
              <a:buNone/>
              <a:defRPr sz="1358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	  </a:t>
            </a:r>
            <a:r>
              <a:rPr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rPr>
              <a:t>'title'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>
                <a:solidFill>
                  <a:srgbClr val="660066"/>
                </a:solidFill>
              </a:rPr>
              <a:t>course</a:t>
            </a:r>
            <a:r>
              <a: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>
                <a:solidFill>
                  <a:srgbClr val="660066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443484" defTabSz="886968">
              <a:buSzTx/>
              <a:buNone/>
              <a:defRPr sz="1358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'description'</a:t>
            </a:r>
            <a:r>
              <a:rPr>
                <a:solidFill>
                  <a:srgbClr val="222222"/>
                </a:solidFill>
              </a:rPr>
              <a:t>: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  <a:latin typeface="Roboto Mono"/>
                <a:ea typeface="Roboto Mono"/>
                <a:cs typeface="Roboto Mono"/>
                <a:sym typeface="Roboto Mono"/>
              </a:rPr>
              <a:t>course.</a:t>
            </a:r>
            <a:r>
              <a:rPr>
                <a:solidFill>
                  <a:srgbClr val="660066"/>
                </a:solidFill>
              </a:rPr>
              <a:t>description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</a:endParaRPr>
          </a:p>
          <a:p>
            <a:pPr marL="0" indent="443484" defTabSz="886968">
              <a:buSzTx/>
              <a:buNone/>
              <a:defRPr sz="1358">
                <a:solidFill>
                  <a:srgbClr val="1B87C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'ects'</a:t>
            </a:r>
            <a:r>
              <a:rPr>
                <a:solidFill>
                  <a:srgbClr val="222222"/>
                </a:solidFill>
              </a:rPr>
              <a:t>: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660066"/>
                </a:solidFill>
              </a:rPr>
              <a:t>course.ects</a:t>
            </a:r>
            <a:r>
              <a:rPr>
                <a:solidFill>
                  <a:srgbClr val="222222"/>
                </a:solidFill>
              </a:rPr>
              <a:t>,</a:t>
            </a:r>
            <a:endParaRPr>
              <a:solidFill>
                <a:srgbClr val="22222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</a:t>
            </a:r>
            <a:r>
              <a:rPr>
                <a:solidFill>
                  <a:srgbClr val="222222"/>
                </a:solidFill>
              </a:rPr>
              <a:t>}),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if</a:t>
            </a:r>
            <a:r>
              <a:t> 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statusCode</a:t>
            </a:r>
            <a:r>
              <a:t> </a:t>
            </a:r>
            <a:r>
              <a:rPr>
                <a:solidFill>
                  <a:srgbClr val="222222"/>
                </a:solidFill>
              </a:rPr>
              <a:t>!=</a:t>
            </a:r>
            <a:r>
              <a:t> 204</a:t>
            </a:r>
            <a:r>
              <a:rPr>
                <a:solidFill>
                  <a:srgbClr val="222222"/>
                </a:solidFill>
              </a:rPr>
              <a:t>)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   </a:t>
            </a:r>
            <a:r>
              <a:rPr>
                <a:solidFill>
                  <a:srgbClr val="1FBAAC"/>
                </a:solidFill>
              </a:rPr>
              <a:t>throw</a:t>
            </a:r>
            <a:r>
              <a:t> </a:t>
            </a:r>
            <a:r>
              <a:rPr>
                <a:solidFill>
                  <a:srgbClr val="660066"/>
                </a:solidFill>
              </a:rPr>
              <a:t>Exception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B87C9"/>
                </a:solidFill>
              </a:rPr>
              <a:t>'Failed to load course'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 defTabSz="886968">
              <a:buSzTx/>
              <a:buNone/>
              <a:defRPr sz="1358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</a:p>
          <a:p>
            <a:pPr marL="0" indent="0" defTabSz="886968">
              <a:buSzTx/>
              <a:buNone/>
              <a:defRPr sz="1358">
                <a:solidFill>
                  <a:srgbClr val="222222"/>
                </a:solidFill>
                <a:latin typeface="Roboto Mono"/>
                <a:ea typeface="Roboto Mono"/>
                <a:cs typeface="Roboto Mono"/>
                <a:sym typeface="Roboto Mono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597;p98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/>
          <a:p>
            <a:pPr defTabSz="457200">
              <a:defRPr sz="1600"/>
            </a:pPr>
            <a:r>
              <a:t>CRU</a:t>
            </a:r>
            <a:r>
              <a:rPr>
                <a:solidFill>
                  <a:srgbClr val="34495E"/>
                </a:solidFill>
              </a:rPr>
              <a:t>D</a:t>
            </a:r>
            <a:r>
              <a:t>: </a:t>
            </a:r>
            <a:r>
              <a:rPr>
                <a:solidFill>
                  <a:srgbClr val="34495E"/>
                </a:solidFill>
              </a:rPr>
              <a:t>Delete Data</a:t>
            </a:r>
            <a:endParaRPr>
              <a:solidFill>
                <a:srgbClr val="34495E"/>
              </a:solidFill>
            </a:endParaRPr>
          </a:p>
        </p:txBody>
      </p:sp>
      <p:sp>
        <p:nvSpPr>
          <p:cNvPr id="322" name="Google Shape;598;p98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Sending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t> request to REST API</a:t>
            </a:r>
          </a:p>
          <a:p>
            <a:pPr marL="0" indent="457200">
              <a:spcBef>
                <a:spcPts val="1200"/>
              </a:spcBef>
              <a:buSzTx/>
              <a:buNone/>
            </a:pPr>
            <a:r>
              <a:t>Use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t> method provided by the </a:t>
            </a:r>
            <a:r>
              <a:rPr b="1"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t> package</a:t>
            </a:r>
          </a:p>
        </p:txBody>
      </p:sp>
      <p:sp>
        <p:nvSpPr>
          <p:cNvPr id="323" name="Google Shape;599;p98"/>
          <p:cNvSpPr txBox="1"/>
          <p:nvPr/>
        </p:nvSpPr>
        <p:spPr>
          <a:xfrm>
            <a:off x="1003924" y="2428325"/>
            <a:ext cx="7373102" cy="690851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i="1" sz="1800">
                <a:solidFill>
                  <a:srgbClr val="8BE9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Response</a:t>
            </a:r>
            <a:r>
              <a:rPr i="0">
                <a:solidFill>
                  <a:srgbClr val="FF79C6"/>
                </a:solidFill>
              </a:rPr>
              <a:t>&gt;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50FA7B"/>
                </a:solidFill>
              </a:rPr>
              <a:t>delete</a:t>
            </a:r>
            <a:r>
              <a:rPr i="0">
                <a:solidFill>
                  <a:srgbClr val="F8F8F2"/>
                </a:solidFill>
              </a:rPr>
              <a:t>(</a:t>
            </a:r>
            <a:r>
              <a:t>Uri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url</a:t>
            </a:r>
            <a:r>
              <a:rPr i="0">
                <a:solidFill>
                  <a:srgbClr val="F8F8F2"/>
                </a:solidFill>
              </a:rPr>
              <a:t>, {</a:t>
            </a:r>
            <a:r>
              <a:t>Map</a:t>
            </a:r>
            <a:r>
              <a:rPr i="0">
                <a:solidFill>
                  <a:srgbClr val="FF79C6"/>
                </a:solidFill>
              </a:rPr>
              <a:t>&lt;</a:t>
            </a:r>
            <a:r>
              <a:t>String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String</a:t>
            </a:r>
            <a:r>
              <a:rPr i="0">
                <a:solidFill>
                  <a:srgbClr val="FF79C6"/>
                </a:solidFill>
              </a:rPr>
              <a:t>&gt;?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headers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Object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</a:t>
            </a:r>
            <a:r>
              <a:rPr b="1" i="0">
                <a:solidFill>
                  <a:srgbClr val="F8F8F2"/>
                </a:solidFill>
              </a:rPr>
              <a:t>body</a:t>
            </a:r>
            <a:r>
              <a:rPr i="0">
                <a:solidFill>
                  <a:srgbClr val="F8F8F2"/>
                </a:solidFill>
              </a:rPr>
              <a:t>, </a:t>
            </a:r>
            <a:r>
              <a:t>Encoding</a:t>
            </a:r>
            <a:r>
              <a:rPr i="0">
                <a:solidFill>
                  <a:srgbClr val="FF79C6"/>
                </a:solidFill>
              </a:rPr>
              <a:t>?</a:t>
            </a:r>
            <a:r>
              <a:rPr i="0">
                <a:solidFill>
                  <a:srgbClr val="F8F8F2"/>
                </a:solidFill>
              </a:rPr>
              <a:t> encoding})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604;p99"/>
          <p:cNvSpPr txBox="1"/>
          <p:nvPr>
            <p:ph type="body" idx="1"/>
          </p:nvPr>
        </p:nvSpPr>
        <p:spPr>
          <a:xfrm>
            <a:off x="311699" y="366299"/>
            <a:ext cx="8520602" cy="441090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66006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Future</a:t>
            </a:r>
            <a:r>
              <a:rPr>
                <a:solidFill>
                  <a:srgbClr val="222222"/>
                </a:solidFill>
              </a:rPr>
              <a:t>&lt;</a:t>
            </a:r>
            <a:r>
              <a:t>void</a:t>
            </a:r>
            <a:r>
              <a:rPr>
                <a:solidFill>
                  <a:srgbClr val="222222"/>
                </a:solidFill>
              </a:rPr>
              <a:t>&gt;</a:t>
            </a:r>
            <a:r>
              <a:rPr>
                <a:solidFill>
                  <a:srgbClr val="212529"/>
                </a:solidFill>
              </a:rPr>
              <a:t> </a:t>
            </a:r>
            <a:r>
              <a:t>deleteCourse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12529"/>
                </a:solidFill>
              </a:rPr>
              <a:t> </a:t>
            </a:r>
            <a:r>
              <a:t>id</a:t>
            </a:r>
            <a:r>
              <a:rPr>
                <a:solidFill>
                  <a:srgbClr val="222222"/>
                </a:solidFill>
              </a:rPr>
              <a:t>)</a:t>
            </a:r>
            <a:r>
              <a:rPr>
                <a:solidFill>
                  <a:srgbClr val="212529"/>
                </a:solidFill>
              </a:rPr>
              <a:t> </a:t>
            </a:r>
            <a:r>
              <a:t>async</a:t>
            </a:r>
            <a:r>
              <a:rPr>
                <a:solidFill>
                  <a:srgbClr val="212529"/>
                </a:solidFill>
              </a:rPr>
              <a:t> </a:t>
            </a:r>
            <a:r>
              <a:rPr>
                <a:solidFill>
                  <a:srgbClr val="222222"/>
                </a:solidFill>
              </a:rPr>
              <a:t>{</a:t>
            </a:r>
            <a:endParaRPr>
              <a:solidFill>
                <a:srgbClr val="212529"/>
              </a:solidFill>
            </a:endParaRP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final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Response</a:t>
            </a:r>
            <a:r>
              <a:t> 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t> </a:t>
            </a:r>
            <a:r>
              <a:rPr>
                <a:solidFill>
                  <a:srgbClr val="222222"/>
                </a:solidFill>
              </a:rPr>
              <a:t>=</a:t>
            </a:r>
            <a:r>
              <a:t> </a:t>
            </a:r>
            <a:r>
              <a:rPr>
                <a:solidFill>
                  <a:srgbClr val="660066"/>
                </a:solidFill>
              </a:rPr>
              <a:t>await</a:t>
            </a:r>
            <a:r>
              <a:t> </a:t>
            </a:r>
            <a:r>
              <a:rPr>
                <a:solidFill>
                  <a:srgbClr val="660066"/>
                </a:solidFill>
              </a:rPr>
              <a:t>http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delete</a:t>
            </a:r>
            <a:r>
              <a:rPr>
                <a:solidFill>
                  <a:srgbClr val="222222"/>
                </a:solidFill>
              </a:rPr>
              <a:t>(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Uri.parse(</a:t>
            </a:r>
            <a:r>
              <a:rPr>
                <a:solidFill>
                  <a:srgbClr val="1B87C9"/>
                </a:solidFill>
              </a:rPr>
              <a:t>'</a:t>
            </a:r>
            <a:r>
              <a:t>$</a:t>
            </a:r>
            <a:r>
              <a:rPr>
                <a:solidFill>
                  <a:srgbClr val="1B87C9"/>
                </a:solidFill>
              </a:rPr>
              <a:t>baseUrl/</a:t>
            </a:r>
            <a:r>
              <a:t>$id</a:t>
            </a:r>
            <a:r>
              <a:rPr>
                <a:solidFill>
                  <a:srgbClr val="1B87C9"/>
                </a:solidFill>
              </a:rPr>
              <a:t>')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headers: </a:t>
            </a:r>
            <a:r>
              <a:rPr>
                <a:solidFill>
                  <a:srgbClr val="222222"/>
                </a:solidFill>
              </a:rPr>
              <a:t>&lt;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,</a:t>
            </a:r>
            <a:r>
              <a:t> </a:t>
            </a:r>
            <a:r>
              <a:rPr>
                <a:solidFill>
                  <a:srgbClr val="1FBAAC"/>
                </a:solidFill>
              </a:rPr>
              <a:t>String</a:t>
            </a:r>
            <a:r>
              <a:rPr>
                <a:solidFill>
                  <a:srgbClr val="222222"/>
                </a:solidFill>
              </a:rPr>
              <a:t>&gt;{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</a:t>
            </a:r>
            <a:r>
              <a:rPr>
                <a:solidFill>
                  <a:srgbClr val="1B87C9"/>
                </a:solidFill>
              </a:rPr>
              <a:t>'Content-Type'</a:t>
            </a:r>
            <a:r>
              <a:rPr>
                <a:solidFill>
                  <a:srgbClr val="222222"/>
                </a:solidFill>
              </a:rPr>
              <a:t>:</a:t>
            </a:r>
            <a:r>
              <a:t> </a:t>
            </a:r>
            <a:r>
              <a:rPr>
                <a:solidFill>
                  <a:srgbClr val="1B87C9"/>
                </a:solidFill>
              </a:rPr>
              <a:t>'application/json; charset=UTF-8'</a:t>
            </a:r>
            <a:r>
              <a:rPr>
                <a:solidFill>
                  <a:srgbClr val="222222"/>
                </a:solidFill>
              </a:rPr>
              <a:t>,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222222"/>
                </a:solidFill>
              </a:rPr>
              <a:t>},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>
              <a:buSzTx/>
              <a:buNone/>
            </a:pPr>
            <a:endParaRPr>
              <a:solidFill>
                <a:srgbClr val="21252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1FBAAC"/>
                </a:solidFill>
              </a:rPr>
              <a:t>if</a:t>
            </a:r>
            <a:r>
              <a:t> 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660066"/>
                </a:solidFill>
              </a:rPr>
              <a:t>response</a:t>
            </a:r>
            <a:r>
              <a:rPr>
                <a:solidFill>
                  <a:srgbClr val="222222"/>
                </a:solidFill>
              </a:rPr>
              <a:t>.</a:t>
            </a:r>
            <a:r>
              <a:rPr>
                <a:solidFill>
                  <a:srgbClr val="1FBAAC"/>
                </a:solidFill>
              </a:rPr>
              <a:t>statusCode</a:t>
            </a:r>
            <a:r>
              <a:t> !</a:t>
            </a:r>
            <a:r>
              <a:rPr>
                <a:solidFill>
                  <a:srgbClr val="222222"/>
                </a:solidFill>
              </a:rPr>
              <a:t>=</a:t>
            </a:r>
            <a:r>
              <a:t> 204</a:t>
            </a:r>
            <a:r>
              <a:rPr>
                <a:solidFill>
                  <a:srgbClr val="222222"/>
                </a:solidFill>
              </a:rPr>
              <a:t>)</a:t>
            </a:r>
            <a:r>
              <a:t> </a:t>
            </a:r>
            <a:r>
              <a:rPr>
                <a:solidFill>
                  <a:srgbClr val="222222"/>
                </a:solidFill>
              </a:rPr>
              <a:t>{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</a:t>
            </a:r>
            <a:r>
              <a:rPr>
                <a:solidFill>
                  <a:srgbClr val="1FBAAC"/>
                </a:solidFill>
              </a:rPr>
              <a:t>throw</a:t>
            </a:r>
            <a:r>
              <a:t> </a:t>
            </a:r>
            <a:r>
              <a:rPr>
                <a:solidFill>
                  <a:srgbClr val="660066"/>
                </a:solidFill>
              </a:rPr>
              <a:t>Exception</a:t>
            </a:r>
            <a:r>
              <a:rPr>
                <a:solidFill>
                  <a:srgbClr val="222222"/>
                </a:solidFill>
              </a:rPr>
              <a:t>(</a:t>
            </a:r>
            <a:r>
              <a:rPr>
                <a:solidFill>
                  <a:srgbClr val="1B87C9"/>
                </a:solidFill>
              </a:rPr>
              <a:t>'Failed to delete course.'</a:t>
            </a:r>
            <a:r>
              <a:rPr>
                <a:solidFill>
                  <a:srgbClr val="222222"/>
                </a:solidFill>
              </a:rPr>
              <a:t>);</a:t>
            </a:r>
          </a:p>
          <a:p>
            <a:pPr marL="0" indent="0">
              <a:buSzTx/>
              <a:buNone/>
              <a:defRPr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222222"/>
                </a:solidFill>
              </a:rPr>
              <a:t>}</a:t>
            </a:r>
          </a:p>
          <a:p>
            <a:pPr marL="0" indent="0">
              <a:buSzTx/>
              <a:buNone/>
              <a:defRPr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609;p100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References and Examples</a:t>
            </a:r>
          </a:p>
        </p:txBody>
      </p:sp>
      <p:sp>
        <p:nvSpPr>
          <p:cNvPr id="328" name="Google Shape;610;p100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3500"/>
              </a:lnSpc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2" invalidUrl="" action="" tgtFrame="" tooltip="" history="1" highlightClick="0" endSnd="0"/>
              </a:rPr>
              <a:t>Using Google´s Flutter Framework for the Development of a Large-Scale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3" invalidUrl="" action="" tgtFrame="" tooltip="" history="1" highlightClick="0" endSnd="0"/>
              </a:rPr>
              <a:t>Flutter documentation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https://fluttersamples.com/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4" invalidUrl="" action="" tgtFrame="" tooltip="" history="1" highlightClick="0" endSnd="0"/>
              </a:rPr>
              <a:t>Bloc State Management Library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5" invalidUrl="" action="" tgtFrame="" tooltip="" history="1" highlightClick="0" endSnd="0"/>
              </a:rPr>
              <a:t>Bloc State Management Library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6" invalidUrl="" action="" tgtFrame="" tooltip="" history="1" highlightClick="0" endSnd="0"/>
              </a:rPr>
              <a:t>Bloc State Management Library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7" invalidUrl="" action="" tgtFrame="" tooltip="" history="1" highlightClick="0" endSnd="0"/>
              </a:rPr>
              <a:t>Bloc State Management Library</a:t>
            </a:r>
          </a:p>
          <a:p>
            <a:pPr marL="0" indent="0">
              <a:lnSpc>
                <a:spcPct val="103500"/>
              </a:lnSpc>
              <a:spcBef>
                <a:spcPts val="1200"/>
              </a:spcBef>
              <a:buSzTx/>
              <a:buNone/>
              <a:defRPr sz="15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>
                <a:uFill>
                  <a:solidFill>
                    <a:schemeClr val="accent5"/>
                  </a:solidFill>
                </a:uFill>
                <a:hlinkClick r:id="rId8" invalidUrl="" action="" tgtFrame="" tooltip="" history="1" highlightClick="0" endSnd="0"/>
              </a:rPr>
              <a:t>https://bloclibrary.dev/#/fluttertodostutorial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615;p101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Quiz</a:t>
            </a:r>
          </a:p>
        </p:txBody>
      </p:sp>
      <p:sp>
        <p:nvSpPr>
          <p:cNvPr id="331" name="Google Shape;616;p101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  <a:r>
              <a:t>What are the main components of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Provider</a:t>
            </a:r>
            <a:r>
              <a:t> state management solution, describe the role of each component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621;p102"/>
          <p:cNvSpPr txBox="1"/>
          <p:nvPr>
            <p:ph type="title"/>
          </p:nvPr>
        </p:nvSpPr>
        <p:spPr>
          <a:xfrm>
            <a:off x="311699" y="445025"/>
            <a:ext cx="8520602" cy="7074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Quiz</a:t>
            </a:r>
          </a:p>
        </p:txBody>
      </p:sp>
      <p:sp>
        <p:nvSpPr>
          <p:cNvPr id="334" name="Google Shape;622;p102"/>
          <p:cNvSpPr txBox="1"/>
          <p:nvPr>
            <p:ph type="body" idx="1"/>
          </p:nvPr>
        </p:nvSpPr>
        <p:spPr>
          <a:xfrm>
            <a:off x="311699" y="1266325"/>
            <a:ext cx="8520602" cy="330270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  <a:r>
              <a:t>What are the main components of </a:t>
            </a:r>
            <a:r>
              <a:rPr b="1">
                <a:solidFill>
                  <a:srgbClr val="073763"/>
                </a:solidFill>
                <a:latin typeface="Courier New"/>
                <a:ea typeface="Courier New"/>
                <a:cs typeface="Courier New"/>
                <a:sym typeface="Courier New"/>
              </a:rPr>
              <a:t>Bloc</a:t>
            </a:r>
            <a:r>
              <a:t> state management solution, describe the role of each component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FFFFFF"/>
      </a:dk1>
      <a:lt1>
        <a:srgbClr val="A1E8D9"/>
      </a:lt1>
      <a:dk2>
        <a:srgbClr val="A7A7A7"/>
      </a:dk2>
      <a:lt2>
        <a:srgbClr val="535353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00FF"/>
      </a:hlink>
      <a:folHlink>
        <a:srgbClr val="FF00FF"/>
      </a:folHlink>
    </a:clrScheme>
    <a:fontScheme name="Tropic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rop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A1E8D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A1E8D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00FF"/>
      </a:hlink>
      <a:folHlink>
        <a:srgbClr val="FF00FF"/>
      </a:folHlink>
    </a:clrScheme>
    <a:fontScheme name="Tropic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Trop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A1E8D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A1E8D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