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8" r:id="rId3"/>
    <p:sldId id="276" r:id="rId4"/>
    <p:sldId id="277" r:id="rId5"/>
    <p:sldId id="278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</p:sldIdLst>
  <p:sldSz cx="9144000" cy="5143500" type="screen16x9"/>
  <p:notesSz cx="6858000" cy="9144000"/>
  <p:embeddedFontLst>
    <p:embeddedFont>
      <p:font typeface="PT Sans Narrow" charset="0"/>
      <p:regular r:id="rId33"/>
      <p:bold r:id="rId34"/>
    </p:embeddedFont>
    <p:embeddedFont>
      <p:font typeface="Open Sans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53304DA-98E5-49A9-9416-4474F38FB7AF}">
  <a:tblStyle styleId="{C53304DA-98E5-49A9-9416-4474F38FB7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8" d="100"/>
          <a:sy n="108" d="100"/>
        </p:scale>
        <p:origin x="-56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14821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395c76b3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395c76b3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395c76b31_0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2395c76b31_0_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395c76b31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395c76b31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395c76b31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2395c76b31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2395c76b31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2395c76b31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2395c76b3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2395c76b31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395c76b3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395c76b3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2395c76b31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2395c76b31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2395c76b3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2395c76b3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2395c76b3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2395c76b31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2395c76b3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2395c76b3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2395c76b31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2395c76b31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395c76b3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2395c76b3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395c76b31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395c76b31_0_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2395c76b31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2395c76b31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2395c76b31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2395c76b31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2395c76b31_0_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2395c76b31_0_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2395c76b31_0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2395c76b31_0_8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395c76b31_0_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2395c76b31_0_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2395c76b31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2395c76b31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2395c76b31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2395c76b31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2395c76b31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2395c76b31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2395c76b31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2395c76b31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2395c76b31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2395c76b31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2395c76b31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2395c76b31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395c76b31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395c76b31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2395c76b31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2395c76b31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2395c76b31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2395c76b31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2395c76b31_0_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2395c76b31_0_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Widgets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widget is a building block for your user interface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widget declares its user interface by overriding the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build() </a:t>
            </a:r>
            <a:r>
              <a:rPr lang="en"/>
              <a:t>method, which is a function that converts state to UI: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689" y="2978003"/>
            <a:ext cx="5527025" cy="15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149" y="0"/>
            <a:ext cx="65355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Widget</a:t>
            </a:r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18" y="0"/>
            <a:ext cx="852256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 Tree</a:t>
            </a:r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057" y="0"/>
            <a:ext cx="74339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 Tree</a:t>
            </a:r>
            <a:endParaRPr dirty="0"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Widgets</a:t>
            </a:r>
            <a:endParaRPr/>
          </a:p>
        </p:txBody>
      </p:sp>
      <p:sp>
        <p:nvSpPr>
          <p:cNvPr id="274" name="Google Shape;274;p4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three major types of widgets: </a:t>
            </a:r>
            <a:endParaRPr/>
          </a:p>
          <a:p>
            <a:pPr marL="0" marR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</a:rPr>
              <a:t>Stateless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</a:rPr>
              <a:t>Stateful</a:t>
            </a:r>
            <a:r>
              <a:rPr lang="en"/>
              <a:t> and </a:t>
            </a:r>
            <a:r>
              <a:rPr lang="en" b="1">
                <a:solidFill>
                  <a:srgbClr val="0B5394"/>
                </a:solidFill>
              </a:rPr>
              <a:t>Inherited</a:t>
            </a:r>
            <a:endParaRPr b="1">
              <a:solidFill>
                <a:srgbClr val="0B539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All widgets are immutable </a:t>
            </a:r>
            <a:r>
              <a:rPr lang="en"/>
              <a:t>but </a:t>
            </a:r>
            <a:r>
              <a:rPr lang="en" b="1"/>
              <a:t>some have state attached to them</a:t>
            </a:r>
            <a:r>
              <a:rPr lang="en"/>
              <a:t> using their element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widgets</a:t>
            </a:r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You can’t alter the state or properties of Stateless widget once it’s built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your properties don’t need to change over time, it’s generally a good idea to start with a stateless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widgets</a:t>
            </a:r>
            <a:endParaRPr/>
          </a:p>
        </p:txBody>
      </p:sp>
      <p:sp>
        <p:nvSpPr>
          <p:cNvPr id="286" name="Google Shape;286;p4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0" y="1272490"/>
            <a:ext cx="9144003" cy="387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/>
              <a:t>lifecycle of a stateless widget starts with a constructor</a:t>
            </a:r>
            <a:r>
              <a:rPr lang="en"/>
              <a:t>, which you can pass parameters to, and </a:t>
            </a:r>
            <a:r>
              <a:rPr lang="en" b="1"/>
              <a:t>a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build()</a:t>
            </a:r>
            <a:r>
              <a:rPr lang="en" b="1"/>
              <a:t> method</a:t>
            </a:r>
            <a:r>
              <a:rPr lang="en"/>
              <a:t>, which you override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 b="1"/>
              <a:t>visual description of the widget </a:t>
            </a:r>
            <a:r>
              <a:rPr lang="en"/>
              <a:t>is determined by the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build()</a:t>
            </a:r>
            <a:r>
              <a:rPr lang="en"/>
              <a:t> method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following events trigger stateless widgets to update: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/>
              <a:t>widget is inserted into the widget tree for the first time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/>
              <a:t>state of a dependency or inherited widget — ancestor nodes — changes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 widgets</a:t>
            </a:r>
            <a:endParaRPr/>
          </a:p>
        </p:txBody>
      </p:sp>
      <p:sp>
        <p:nvSpPr>
          <p:cNvPr id="305" name="Google Shape;305;p4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 widgets </a:t>
            </a:r>
            <a:r>
              <a:rPr lang="en" b="1"/>
              <a:t>preserve state</a:t>
            </a:r>
            <a:r>
              <a:rPr lang="en"/>
              <a:t>, which is useful when parts of your UI need to change dynamically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For example, 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good time to use a stateful widget is when a user taps a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Favorite</a:t>
            </a:r>
            <a:r>
              <a:rPr lang="en"/>
              <a:t> button to toggle a simple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/>
              <a:t> value on and off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5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12" name="Google Shape;3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6315"/>
            <a:ext cx="9144003" cy="387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Stateful widgets store their mutable state in a separate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b="1"/>
              <a:t> class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That’s why every stateful widget must override and implement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createState()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19" name="Google Shape;319;p51"/>
          <p:cNvSpPr txBox="1"/>
          <p:nvPr/>
        </p:nvSpPr>
        <p:spPr>
          <a:xfrm>
            <a:off x="711750" y="2649300"/>
            <a:ext cx="7720500" cy="23418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MyWidget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80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800">
              <a:solidFill>
                <a:srgbClr val="FF79C6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MyWidget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8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createState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_MyWidgetState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object lifecycle</a:t>
            </a:r>
            <a:endParaRPr/>
          </a:p>
        </p:txBody>
      </p:sp>
      <p:sp>
        <p:nvSpPr>
          <p:cNvPr id="325" name="Google Shape;325;p5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widget’s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build()</a:t>
            </a:r>
            <a:r>
              <a:rPr lang="en"/>
              <a:t> method takes a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/>
              <a:t> as an argument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/>
              <a:t>build context</a:t>
            </a:r>
            <a:r>
              <a:rPr lang="en"/>
              <a:t> </a:t>
            </a:r>
            <a:r>
              <a:rPr lang="en" b="1"/>
              <a:t>tells you where you are in the tree of widgets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access the element for any widget through the </a:t>
            </a:r>
            <a:r>
              <a:rPr lang="en"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object lifecycle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5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39" name="Google Shape;339;p54"/>
          <p:cNvSpPr txBox="1"/>
          <p:nvPr/>
        </p:nvSpPr>
        <p:spPr>
          <a:xfrm>
            <a:off x="287600" y="324825"/>
            <a:ext cx="4854900" cy="14211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When you assign the build context to a widget, </a:t>
            </a:r>
            <a:r>
              <a:rPr lang="en" sz="18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mounted</a:t>
            </a: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is set to true</a:t>
            </a:r>
            <a:endParaRPr sz="18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It lets the framework know that </a:t>
            </a:r>
            <a:r>
              <a:rPr lang="en" sz="1800" b="1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this widget is currently on the widget tree</a:t>
            </a:r>
            <a:endParaRPr sz="1800"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0" name="Google Shape;340;p54"/>
          <p:cNvCxnSpPr>
            <a:stCxn id="339" idx="3"/>
          </p:cNvCxnSpPr>
          <p:nvPr/>
        </p:nvCxnSpPr>
        <p:spPr>
          <a:xfrm rot="10800000" flipH="1">
            <a:off x="5142500" y="714375"/>
            <a:ext cx="1360500" cy="3210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47" name="Google Shape;347;p55"/>
          <p:cNvSpPr txBox="1"/>
          <p:nvPr/>
        </p:nvSpPr>
        <p:spPr>
          <a:xfrm>
            <a:off x="383850" y="788675"/>
            <a:ext cx="4854900" cy="738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initState()</a:t>
            </a: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is the first method called after a widget is created</a:t>
            </a:r>
            <a:endParaRPr sz="18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8" name="Google Shape;348;p55"/>
          <p:cNvCxnSpPr>
            <a:stCxn id="347" idx="3"/>
          </p:cNvCxnSpPr>
          <p:nvPr/>
        </p:nvCxnSpPr>
        <p:spPr>
          <a:xfrm rot="10800000" flipH="1">
            <a:off x="5238750" y="1066025"/>
            <a:ext cx="769500" cy="921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55" name="Google Shape;355;p56"/>
          <p:cNvSpPr txBox="1"/>
          <p:nvPr/>
        </p:nvSpPr>
        <p:spPr>
          <a:xfrm>
            <a:off x="64325" y="134450"/>
            <a:ext cx="5098800" cy="1975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didChangeDependencies() </a:t>
            </a: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is called the first time the framework builds a widget</a:t>
            </a:r>
            <a:endParaRPr sz="1800" b="1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framework might call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didChangeDependencies() </a:t>
            </a: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again if your state object depends on an inherited widget that has changed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6" name="Google Shape;356;p56"/>
          <p:cNvCxnSpPr>
            <a:stCxn id="355" idx="3"/>
          </p:cNvCxnSpPr>
          <p:nvPr/>
        </p:nvCxnSpPr>
        <p:spPr>
          <a:xfrm>
            <a:off x="5163125" y="1122050"/>
            <a:ext cx="639000" cy="2850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63" name="Google Shape;363;p57"/>
          <p:cNvSpPr txBox="1"/>
          <p:nvPr/>
        </p:nvSpPr>
        <p:spPr>
          <a:xfrm>
            <a:off x="548775" y="1266325"/>
            <a:ext cx="3965100" cy="1293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This function is the most important for developers because </a:t>
            </a:r>
            <a:r>
              <a:rPr lang="en" sz="1800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it’s called every time a widget needs rendering</a:t>
            </a:r>
            <a:endParaRPr sz="1800" b="1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4" name="Google Shape;364;p57"/>
          <p:cNvCxnSpPr>
            <a:stCxn id="363" idx="3"/>
          </p:cNvCxnSpPr>
          <p:nvPr/>
        </p:nvCxnSpPr>
        <p:spPr>
          <a:xfrm>
            <a:off x="4513875" y="1912825"/>
            <a:ext cx="1556400" cy="8445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75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71" name="Google Shape;371;p58"/>
          <p:cNvSpPr txBox="1"/>
          <p:nvPr/>
        </p:nvSpPr>
        <p:spPr>
          <a:xfrm>
            <a:off x="188000" y="833400"/>
            <a:ext cx="3965100" cy="1293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framework calls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didUpdateWidget(_)</a:t>
            </a: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when a parent widget makes a change or needs to redraw the UI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2" name="Google Shape;372;p58"/>
          <p:cNvCxnSpPr>
            <a:stCxn id="371" idx="2"/>
          </p:cNvCxnSpPr>
          <p:nvPr/>
        </p:nvCxnSpPr>
        <p:spPr>
          <a:xfrm>
            <a:off x="2170550" y="2126400"/>
            <a:ext cx="1817400" cy="7443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79" name="Google Shape;379;p59"/>
          <p:cNvSpPr txBox="1"/>
          <p:nvPr/>
        </p:nvSpPr>
        <p:spPr>
          <a:xfrm>
            <a:off x="4647750" y="586025"/>
            <a:ext cx="4401600" cy="1421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Whenever you want to modify the state in your widget, you call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setState()</a:t>
            </a:r>
            <a:endParaRPr sz="1800" b="1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framework then marks the widget as dirty and triggers a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build()</a:t>
            </a: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again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0" name="Google Shape;380;p59"/>
          <p:cNvCxnSpPr>
            <a:stCxn id="379" idx="2"/>
          </p:cNvCxnSpPr>
          <p:nvPr/>
        </p:nvCxnSpPr>
        <p:spPr>
          <a:xfrm flipH="1">
            <a:off x="5099550" y="2007125"/>
            <a:ext cx="1749000" cy="9609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6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87" name="Google Shape;387;p60"/>
          <p:cNvSpPr txBox="1"/>
          <p:nvPr/>
        </p:nvSpPr>
        <p:spPr>
          <a:xfrm>
            <a:off x="4627125" y="3575225"/>
            <a:ext cx="4401600" cy="1015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When you remove the object from the tree, the framework calls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deactivate()</a:t>
            </a:r>
            <a:endParaRPr sz="1800" b="1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88" name="Google Shape;388;p60"/>
          <p:cNvCxnSpPr>
            <a:stCxn id="387" idx="1"/>
          </p:cNvCxnSpPr>
          <p:nvPr/>
        </p:nvCxnSpPr>
        <p:spPr>
          <a:xfrm flipH="1">
            <a:off x="3276825" y="4083125"/>
            <a:ext cx="1350300" cy="246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55122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6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95" name="Google Shape;395;p61"/>
          <p:cNvSpPr txBox="1"/>
          <p:nvPr/>
        </p:nvSpPr>
        <p:spPr>
          <a:xfrm>
            <a:off x="4699275" y="3894775"/>
            <a:ext cx="4401600" cy="1015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framework calls </a:t>
            </a:r>
            <a:r>
              <a:rPr lang="en" sz="1800" b="1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dispose() </a:t>
            </a:r>
            <a:r>
              <a:rPr lang="en"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when you permanently remove the object and its state from the tree</a:t>
            </a:r>
            <a:endParaRPr sz="18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6" name="Google Shape;396;p61"/>
          <p:cNvCxnSpPr>
            <a:stCxn id="395" idx="1"/>
          </p:cNvCxnSpPr>
          <p:nvPr/>
        </p:nvCxnSpPr>
        <p:spPr>
          <a:xfrm flipH="1">
            <a:off x="3214875" y="4402675"/>
            <a:ext cx="1484400" cy="2925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02" name="Google Shape;402;p6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3" name="Google Shape;4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149" y="0"/>
            <a:ext cx="65355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3"/>
          <p:cNvSpPr txBox="1"/>
          <p:nvPr/>
        </p:nvSpPr>
        <p:spPr>
          <a:xfrm>
            <a:off x="676200" y="271500"/>
            <a:ext cx="77916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AuthorCard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@override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AuthorCard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8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createState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_AuthorCardState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63"/>
          <p:cNvSpPr txBox="1"/>
          <p:nvPr/>
        </p:nvSpPr>
        <p:spPr>
          <a:xfrm>
            <a:off x="2627450" y="44825"/>
            <a:ext cx="531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63"/>
          <p:cNvSpPr txBox="1"/>
          <p:nvPr/>
        </p:nvSpPr>
        <p:spPr>
          <a:xfrm>
            <a:off x="676200" y="2374275"/>
            <a:ext cx="7791600" cy="27177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_AuthorCardState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AuthorCard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// ...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@override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80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rgbClr val="FF79C6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>
            <a:spLocks noGrp="1"/>
          </p:cNvSpPr>
          <p:nvPr>
            <p:ph type="body" idx="1"/>
          </p:nvPr>
        </p:nvSpPr>
        <p:spPr>
          <a:xfrm>
            <a:off x="0" y="2149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Inside </a:t>
            </a:r>
            <a:r>
              <a:rPr lang="en" b="1">
                <a:latin typeface="Courier New"/>
                <a:ea typeface="Courier New"/>
                <a:cs typeface="Courier New"/>
                <a:sym typeface="Courier New"/>
              </a:rPr>
              <a:t>_AuthorCardState</a:t>
            </a:r>
            <a:r>
              <a:rPr lang="en"/>
              <a:t> class</a:t>
            </a:r>
            <a:endParaRPr/>
          </a:p>
        </p:txBody>
      </p:sp>
      <p:sp>
        <p:nvSpPr>
          <p:cNvPr id="416" name="Google Shape;416;p64"/>
          <p:cNvSpPr txBox="1"/>
          <p:nvPr/>
        </p:nvSpPr>
        <p:spPr>
          <a:xfrm>
            <a:off x="243300" y="725025"/>
            <a:ext cx="8661600" cy="44892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500" i="1">
              <a:solidFill>
                <a:srgbClr val="50FA7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_isFavorited 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 i="1">
              <a:solidFill>
                <a:srgbClr val="50FA7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500" i="1">
              <a:solidFill>
                <a:srgbClr val="50FA7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IconButton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(_isFavorited 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.favorite 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.favorite_border),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iconSize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.red[</a:t>
            </a:r>
            <a:r>
              <a:rPr lang="en" sz="15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onPressed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() {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(() {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isFavorited 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_isFavorited;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});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5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the widget tree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6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3" name="Google Shape;42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5569"/>
            <a:ext cx="9143999" cy="27767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the widget tree</a:t>
            </a:r>
            <a:endParaRPr/>
          </a:p>
        </p:txBody>
      </p:sp>
      <p:sp>
        <p:nvSpPr>
          <p:cNvPr id="429" name="Google Shape;429;p6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30" name="Google Shape;43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7735"/>
            <a:ext cx="9144003" cy="298698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6"/>
          <p:cNvSpPr txBox="1"/>
          <p:nvPr/>
        </p:nvSpPr>
        <p:spPr>
          <a:xfrm>
            <a:off x="730850" y="4375725"/>
            <a:ext cx="6999000" cy="46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StatefulElement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manages the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object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2953"/>
            <a:ext cx="9144003" cy="344239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the widget tree</a:t>
            </a:r>
            <a:endParaRPr/>
          </a:p>
        </p:txBody>
      </p:sp>
      <p:sp>
        <p:nvSpPr>
          <p:cNvPr id="438" name="Google Shape;438;p67"/>
          <p:cNvSpPr txBox="1"/>
          <p:nvPr/>
        </p:nvSpPr>
        <p:spPr>
          <a:xfrm>
            <a:off x="87150" y="4282950"/>
            <a:ext cx="89697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When the user taps the heart button,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setState()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runs and toggles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_isFavorited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to true Internally, the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object marks this element as 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dirty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67"/>
          <p:cNvSpPr txBox="1"/>
          <p:nvPr/>
        </p:nvSpPr>
        <p:spPr>
          <a:xfrm>
            <a:off x="8209800" y="1959675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6D7A8"/>
                </a:highlight>
                <a:latin typeface="Open Sans"/>
                <a:ea typeface="Open Sans"/>
                <a:cs typeface="Open Sans"/>
                <a:sym typeface="Open Sans"/>
              </a:rPr>
              <a:t>true</a:t>
            </a:r>
            <a:endParaRPr>
              <a:highlight>
                <a:srgbClr val="B6D7A8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2953"/>
            <a:ext cx="9144003" cy="344239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the widget tree</a:t>
            </a:r>
            <a:endParaRPr/>
          </a:p>
        </p:txBody>
      </p:sp>
      <p:sp>
        <p:nvSpPr>
          <p:cNvPr id="446" name="Google Shape;446;p68"/>
          <p:cNvSpPr txBox="1"/>
          <p:nvPr/>
        </p:nvSpPr>
        <p:spPr>
          <a:xfrm>
            <a:off x="87150" y="4282950"/>
            <a:ext cx="89697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Rather than reconstructing the whole tree, </a:t>
            </a: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the framework only updates the widgets that need to be changed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68"/>
          <p:cNvSpPr txBox="1"/>
          <p:nvPr/>
        </p:nvSpPr>
        <p:spPr>
          <a:xfrm>
            <a:off x="8209800" y="1959675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6D7A8"/>
                </a:highlight>
                <a:latin typeface="Open Sans"/>
                <a:ea typeface="Open Sans"/>
                <a:cs typeface="Open Sans"/>
                <a:sym typeface="Open Sans"/>
              </a:rPr>
              <a:t>true</a:t>
            </a:r>
            <a:endParaRPr>
              <a:highlight>
                <a:srgbClr val="B6D7A8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On-screen Show (16:9)</PresentationFormat>
  <Paragraphs>90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Courier New</vt:lpstr>
      <vt:lpstr>PT Sans Narrow</vt:lpstr>
      <vt:lpstr>Open Sans</vt:lpstr>
      <vt:lpstr>Tropic</vt:lpstr>
      <vt:lpstr>Understanding Widgets</vt:lpstr>
      <vt:lpstr>Widget</vt:lpstr>
      <vt:lpstr>Example Widget</vt:lpstr>
      <vt:lpstr>Widget Tree</vt:lpstr>
      <vt:lpstr>Widget Tree</vt:lpstr>
      <vt:lpstr>Types of Widgets</vt:lpstr>
      <vt:lpstr>Stateless widgets</vt:lpstr>
      <vt:lpstr>Stateless widgets</vt:lpstr>
      <vt:lpstr>Stateless widgets </vt:lpstr>
      <vt:lpstr>Stateless widgets </vt:lpstr>
      <vt:lpstr>Stateful widgets</vt:lpstr>
      <vt:lpstr>Stateful widgets </vt:lpstr>
      <vt:lpstr>Stateful widgets </vt:lpstr>
      <vt:lpstr>State object lifecycle</vt:lpstr>
      <vt:lpstr>State object lifecycle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Examining the widget tree </vt:lpstr>
      <vt:lpstr>Examining the widget tree</vt:lpstr>
      <vt:lpstr>Examining the widget tree</vt:lpstr>
      <vt:lpstr>Examining the widget tree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Widgets</dc:title>
  <cp:lastModifiedBy>Hp</cp:lastModifiedBy>
  <cp:revision>2</cp:revision>
  <dcterms:modified xsi:type="dcterms:W3CDTF">2026-09-08T19:07:39Z</dcterms:modified>
</cp:coreProperties>
</file>